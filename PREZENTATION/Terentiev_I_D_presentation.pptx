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5" r:id="rId2"/>
  </p:sldMasterIdLst>
  <p:notesMasterIdLst>
    <p:notesMasterId r:id="rId22"/>
  </p:notesMasterIdLst>
  <p:sldIdLst>
    <p:sldId id="256" r:id="rId3"/>
    <p:sldId id="260" r:id="rId4"/>
    <p:sldId id="257" r:id="rId5"/>
    <p:sldId id="259" r:id="rId6"/>
    <p:sldId id="258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70" r:id="rId15"/>
    <p:sldId id="271" r:id="rId16"/>
    <p:sldId id="272" r:id="rId17"/>
    <p:sldId id="273" r:id="rId18"/>
    <p:sldId id="274" r:id="rId19"/>
    <p:sldId id="267" r:id="rId20"/>
    <p:sldId id="26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9B1C9-B794-42FC-AEC7-0360CEA9B87C}" type="datetimeFigureOut">
              <a:rPr lang="en-US" smtClean="0"/>
              <a:t>Mon, 6/9/2025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6C7FE9-80F3-448B-ABA3-0F50625F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8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145600" y="1899833"/>
            <a:ext cx="7900800" cy="277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6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145600" y="4765033"/>
            <a:ext cx="7923600" cy="6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7154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773267" y="2472667"/>
            <a:ext cx="48064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2612333" y="2472667"/>
            <a:ext cx="15864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612333" y="3918767"/>
            <a:ext cx="6967200" cy="59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8" name="Google Shape;18;p3"/>
          <p:cNvCxnSpPr/>
          <p:nvPr/>
        </p:nvCxnSpPr>
        <p:spPr>
          <a:xfrm rot="10800000">
            <a:off x="11681767" y="2772400"/>
            <a:ext cx="0" cy="1313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9" name="Google Shape;19;p3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" name="Google Shape;20;p3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1" name="Google Shape;21;p3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24" name="Google Shape;24;p3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" name="Google Shape;25;p3"/>
          <p:cNvCxnSpPr/>
          <p:nvPr/>
        </p:nvCxnSpPr>
        <p:spPr>
          <a:xfrm rot="10800000">
            <a:off x="525800" y="2772400"/>
            <a:ext cx="0" cy="1313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988640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8" name="Google Shape;28;p4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9" name="Google Shape;29;p4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30" name="Google Shape;30;p4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1" name="Google Shape;31;p4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Google Shape;33;p4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4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7252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675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38" name="Google Shape;38;p5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9" name="Google Shape;39;p5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40" name="Google Shape;40;p5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43" name="Google Shape;43;p5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6329849" y="2496471"/>
            <a:ext cx="4930800" cy="36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968900" y="2496471"/>
            <a:ext cx="4930800" cy="36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867" b="0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968900" y="1750967"/>
            <a:ext cx="4930800" cy="5632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6329833" y="1750967"/>
            <a:ext cx="4930800" cy="5632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24611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51" name="Google Shape;51;p6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2" name="Google Shape;52;p6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53" name="Google Shape;53;p6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4" name="Google Shape;54;p6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5" name="Google Shape;55;p6"/>
          <p:cNvSpPr txBox="1">
            <a:spLocks noGrp="1"/>
          </p:cNvSpPr>
          <p:nvPr>
            <p:ph type="sldNum" idx="1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56" name="Google Shape;56;p6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1259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60" name="Google Shape;60;p7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61" name="Google Shape;61;p7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62" name="Google Shape;62;p7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63" name="Google Shape;63;p7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64" name="Google Shape;64;p7"/>
          <p:cNvSpPr txBox="1">
            <a:spLocks noGrp="1"/>
          </p:cNvSpPr>
          <p:nvPr>
            <p:ph type="sldNum" idx="1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65" name="Google Shape;65;p7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835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subTitle" idx="1"/>
          </p:nvPr>
        </p:nvSpPr>
        <p:spPr>
          <a:xfrm>
            <a:off x="960000" y="1796333"/>
            <a:ext cx="9766000" cy="42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4424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1293100" y="2772345"/>
            <a:ext cx="9606000" cy="11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71" name="Google Shape;71;p8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2" name="Google Shape;72;p8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73" name="Google Shape;73;p8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4" name="Google Shape;74;p8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5" name="Google Shape;75;p8"/>
          <p:cNvSpPr txBox="1">
            <a:spLocks noGrp="1"/>
          </p:cNvSpPr>
          <p:nvPr>
            <p:ph type="sldNum" idx="1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76" name="Google Shape;76;p8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4201505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960000" y="1884700"/>
            <a:ext cx="5726400" cy="27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960000" y="4678400"/>
            <a:ext cx="5726400" cy="13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7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title"/>
          </p:nvPr>
        </p:nvSpPr>
        <p:spPr>
          <a:xfrm>
            <a:off x="950967" y="5550633"/>
            <a:ext cx="10556400" cy="7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925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86" name="Google Shape;86;p11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87" name="Google Shape;87;p11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88" name="Google Shape;88;p11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9" name="Google Shape;89;p11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90" name="Google Shape;90;p11"/>
          <p:cNvSpPr txBox="1">
            <a:spLocks noGrp="1"/>
          </p:cNvSpPr>
          <p:nvPr>
            <p:ph type="sldNum" idx="1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91" name="Google Shape;91;p11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92" name="Google Shape;92;p11"/>
          <p:cNvSpPr txBox="1">
            <a:spLocks noGrp="1"/>
          </p:cNvSpPr>
          <p:nvPr>
            <p:ph type="title" hasCustomPrompt="1"/>
          </p:nvPr>
        </p:nvSpPr>
        <p:spPr>
          <a:xfrm>
            <a:off x="1712000" y="1906300"/>
            <a:ext cx="8768000" cy="18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>
            <a:spLocks noGrp="1"/>
          </p:cNvSpPr>
          <p:nvPr>
            <p:ph type="subTitle" idx="1"/>
          </p:nvPr>
        </p:nvSpPr>
        <p:spPr>
          <a:xfrm>
            <a:off x="1712000" y="3980667"/>
            <a:ext cx="8768000" cy="6628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6506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20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950967" y="2690833"/>
            <a:ext cx="3234800" cy="71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2"/>
          </p:nvPr>
        </p:nvSpPr>
        <p:spPr>
          <a:xfrm>
            <a:off x="950967" y="5160971"/>
            <a:ext cx="3234800" cy="71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3"/>
          </p:nvPr>
        </p:nvSpPr>
        <p:spPr>
          <a:xfrm>
            <a:off x="4478833" y="5160967"/>
            <a:ext cx="3234800" cy="71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4"/>
          </p:nvPr>
        </p:nvSpPr>
        <p:spPr>
          <a:xfrm>
            <a:off x="4478833" y="2690700"/>
            <a:ext cx="3234800" cy="71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5" hasCustomPrompt="1"/>
          </p:nvPr>
        </p:nvSpPr>
        <p:spPr>
          <a:xfrm>
            <a:off x="950967" y="1521717"/>
            <a:ext cx="874800" cy="58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733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6" hasCustomPrompt="1"/>
          </p:nvPr>
        </p:nvSpPr>
        <p:spPr>
          <a:xfrm>
            <a:off x="4478833" y="3992084"/>
            <a:ext cx="874800" cy="58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733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7" hasCustomPrompt="1"/>
          </p:nvPr>
        </p:nvSpPr>
        <p:spPr>
          <a:xfrm>
            <a:off x="950967" y="3992084"/>
            <a:ext cx="874800" cy="58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733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8" hasCustomPrompt="1"/>
          </p:nvPr>
        </p:nvSpPr>
        <p:spPr>
          <a:xfrm>
            <a:off x="4478833" y="1522740"/>
            <a:ext cx="874800" cy="58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733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9"/>
          </p:nvPr>
        </p:nvSpPr>
        <p:spPr>
          <a:xfrm>
            <a:off x="7996851" y="5160967"/>
            <a:ext cx="3234800" cy="71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3"/>
          </p:nvPr>
        </p:nvSpPr>
        <p:spPr>
          <a:xfrm>
            <a:off x="7996851" y="2690700"/>
            <a:ext cx="3234800" cy="71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14" hasCustomPrompt="1"/>
          </p:nvPr>
        </p:nvSpPr>
        <p:spPr>
          <a:xfrm>
            <a:off x="7996851" y="3992084"/>
            <a:ext cx="874800" cy="58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733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15" hasCustomPrompt="1"/>
          </p:nvPr>
        </p:nvSpPr>
        <p:spPr>
          <a:xfrm>
            <a:off x="7996851" y="1522740"/>
            <a:ext cx="874800" cy="58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733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6"/>
          </p:nvPr>
        </p:nvSpPr>
        <p:spPr>
          <a:xfrm>
            <a:off x="950967" y="2126100"/>
            <a:ext cx="3230800" cy="5852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7"/>
          </p:nvPr>
        </p:nvSpPr>
        <p:spPr>
          <a:xfrm>
            <a:off x="950967" y="4596181"/>
            <a:ext cx="3230800" cy="5712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8"/>
          </p:nvPr>
        </p:nvSpPr>
        <p:spPr>
          <a:xfrm>
            <a:off x="4478833" y="4596167"/>
            <a:ext cx="3230800" cy="5712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9"/>
          </p:nvPr>
        </p:nvSpPr>
        <p:spPr>
          <a:xfrm>
            <a:off x="4478833" y="2126100"/>
            <a:ext cx="3230800" cy="5852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0"/>
          </p:nvPr>
        </p:nvSpPr>
        <p:spPr>
          <a:xfrm>
            <a:off x="7996851" y="4596167"/>
            <a:ext cx="3230800" cy="5712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21"/>
          </p:nvPr>
        </p:nvSpPr>
        <p:spPr>
          <a:xfrm>
            <a:off x="7996851" y="2126100"/>
            <a:ext cx="3230800" cy="5852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16" name="Google Shape;116;p13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7" name="Google Shape;117;p13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18" name="Google Shape;118;p13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0" name="Google Shape;120;p13"/>
          <p:cNvSpPr txBox="1">
            <a:spLocks noGrp="1"/>
          </p:cNvSpPr>
          <p:nvPr>
            <p:ph type="sldNum" idx="1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121" name="Google Shape;121;p13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369271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24" name="Google Shape;124;p14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5" name="Google Shape;125;p14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26" name="Google Shape;126;p14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8" name="Google Shape;128;p14"/>
          <p:cNvSpPr txBox="1">
            <a:spLocks noGrp="1"/>
          </p:cNvSpPr>
          <p:nvPr>
            <p:ph type="sldNum" idx="1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129" name="Google Shape;129;p14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30" name="Google Shape;130;p14"/>
          <p:cNvSpPr txBox="1">
            <a:spLocks noGrp="1"/>
          </p:cNvSpPr>
          <p:nvPr>
            <p:ph type="title"/>
          </p:nvPr>
        </p:nvSpPr>
        <p:spPr>
          <a:xfrm>
            <a:off x="1293200" y="4516800"/>
            <a:ext cx="9605600" cy="7092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1" name="Google Shape;131;p14"/>
          <p:cNvSpPr txBox="1">
            <a:spLocks noGrp="1"/>
          </p:cNvSpPr>
          <p:nvPr>
            <p:ph type="subTitle" idx="1"/>
          </p:nvPr>
        </p:nvSpPr>
        <p:spPr>
          <a:xfrm>
            <a:off x="1293200" y="1750167"/>
            <a:ext cx="9605600" cy="19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68713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34" name="Google Shape;134;p15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5" name="Google Shape;135;p15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36" name="Google Shape;136;p15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7" name="Google Shape;137;p15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8" name="Google Shape;138;p15"/>
          <p:cNvSpPr txBox="1">
            <a:spLocks noGrp="1"/>
          </p:cNvSpPr>
          <p:nvPr>
            <p:ph type="sldNum" idx="1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139" name="Google Shape;139;p15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960000" y="1531417"/>
            <a:ext cx="5259600" cy="214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1"/>
          </p:nvPr>
        </p:nvSpPr>
        <p:spPr>
          <a:xfrm>
            <a:off x="960000" y="3838184"/>
            <a:ext cx="5259600" cy="1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2" name="Google Shape;142;p15"/>
          <p:cNvSpPr>
            <a:spLocks noGrp="1"/>
          </p:cNvSpPr>
          <p:nvPr>
            <p:ph type="pic" idx="2"/>
          </p:nvPr>
        </p:nvSpPr>
        <p:spPr>
          <a:xfrm>
            <a:off x="6866433" y="921384"/>
            <a:ext cx="4094400" cy="50152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301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45" name="Google Shape;145;p16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46" name="Google Shape;146;p16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47" name="Google Shape;147;p16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8" name="Google Shape;148;p16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49" name="Google Shape;149;p16"/>
          <p:cNvSpPr txBox="1">
            <a:spLocks noGrp="1"/>
          </p:cNvSpPr>
          <p:nvPr>
            <p:ph type="sldNum" idx="1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150" name="Google Shape;150;p16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960000" y="2091200"/>
            <a:ext cx="3855200" cy="93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ubTitle" idx="1"/>
          </p:nvPr>
        </p:nvSpPr>
        <p:spPr>
          <a:xfrm>
            <a:off x="960000" y="3025184"/>
            <a:ext cx="3855200" cy="17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55384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55" name="Google Shape;155;p17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6" name="Google Shape;156;p17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57" name="Google Shape;157;p17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9" name="Google Shape;159;p17"/>
          <p:cNvSpPr txBox="1">
            <a:spLocks noGrp="1"/>
          </p:cNvSpPr>
          <p:nvPr>
            <p:ph type="sldNum" idx="1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160" name="Google Shape;160;p17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ubTitle" idx="1"/>
          </p:nvPr>
        </p:nvSpPr>
        <p:spPr>
          <a:xfrm>
            <a:off x="1250167" y="4095000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2"/>
          </p:nvPr>
        </p:nvSpPr>
        <p:spPr>
          <a:xfrm>
            <a:off x="4645795" y="4095000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subTitle" idx="3"/>
          </p:nvPr>
        </p:nvSpPr>
        <p:spPr>
          <a:xfrm>
            <a:off x="8041432" y="4095000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ubTitle" idx="4"/>
          </p:nvPr>
        </p:nvSpPr>
        <p:spPr>
          <a:xfrm>
            <a:off x="1250167" y="3587000"/>
            <a:ext cx="2900400" cy="487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subTitle" idx="5"/>
          </p:nvPr>
        </p:nvSpPr>
        <p:spPr>
          <a:xfrm>
            <a:off x="4645796" y="3587000"/>
            <a:ext cx="2900400" cy="487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ubTitle" idx="6"/>
          </p:nvPr>
        </p:nvSpPr>
        <p:spPr>
          <a:xfrm>
            <a:off x="8041433" y="3587000"/>
            <a:ext cx="2900400" cy="487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9157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70" name="Google Shape;170;p18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1" name="Google Shape;171;p18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72" name="Google Shape;172;p18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4" name="Google Shape;174;p18"/>
          <p:cNvSpPr txBox="1">
            <a:spLocks noGrp="1"/>
          </p:cNvSpPr>
          <p:nvPr>
            <p:ph type="sldNum" idx="1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175" name="Google Shape;175;p18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76" name="Google Shape;176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1"/>
          </p:nvPr>
        </p:nvSpPr>
        <p:spPr>
          <a:xfrm>
            <a:off x="960033" y="2147923"/>
            <a:ext cx="10272000" cy="7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2"/>
          </p:nvPr>
        </p:nvSpPr>
        <p:spPr>
          <a:xfrm>
            <a:off x="960033" y="3641500"/>
            <a:ext cx="10272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subTitle" idx="3"/>
          </p:nvPr>
        </p:nvSpPr>
        <p:spPr>
          <a:xfrm>
            <a:off x="960033" y="5135500"/>
            <a:ext cx="10272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subTitle" idx="4"/>
          </p:nvPr>
        </p:nvSpPr>
        <p:spPr>
          <a:xfrm>
            <a:off x="960033" y="1655032"/>
            <a:ext cx="10272000" cy="5248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ubTitle" idx="5"/>
          </p:nvPr>
        </p:nvSpPr>
        <p:spPr>
          <a:xfrm>
            <a:off x="960033" y="3133500"/>
            <a:ext cx="10272000" cy="5248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subTitle" idx="6"/>
          </p:nvPr>
        </p:nvSpPr>
        <p:spPr>
          <a:xfrm>
            <a:off x="960033" y="4627500"/>
            <a:ext cx="10272000" cy="5248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54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85" name="Google Shape;185;p19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6" name="Google Shape;186;p19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87" name="Google Shape;187;p19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88" name="Google Shape;188;p19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9" name="Google Shape;189;p19"/>
          <p:cNvSpPr txBox="1">
            <a:spLocks noGrp="1"/>
          </p:cNvSpPr>
          <p:nvPr>
            <p:ph type="sldNum" idx="1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190" name="Google Shape;190;p19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91" name="Google Shape;191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subTitle" idx="1"/>
          </p:nvPr>
        </p:nvSpPr>
        <p:spPr>
          <a:xfrm>
            <a:off x="1842167" y="2290700"/>
            <a:ext cx="9390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2"/>
          </p:nvPr>
        </p:nvSpPr>
        <p:spPr>
          <a:xfrm>
            <a:off x="1842180" y="3814700"/>
            <a:ext cx="9390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3"/>
          </p:nvPr>
        </p:nvSpPr>
        <p:spPr>
          <a:xfrm>
            <a:off x="1842180" y="5338700"/>
            <a:ext cx="9390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4"/>
          </p:nvPr>
        </p:nvSpPr>
        <p:spPr>
          <a:xfrm>
            <a:off x="1842167" y="1874700"/>
            <a:ext cx="9390000" cy="4448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subTitle" idx="5"/>
          </p:nvPr>
        </p:nvSpPr>
        <p:spPr>
          <a:xfrm>
            <a:off x="1842167" y="3368767"/>
            <a:ext cx="9390000" cy="4448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subTitle" idx="6"/>
          </p:nvPr>
        </p:nvSpPr>
        <p:spPr>
          <a:xfrm>
            <a:off x="1842167" y="4862833"/>
            <a:ext cx="9390000" cy="4448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600"/>
              <a:buFont typeface="Bebas Neue"/>
              <a:buNone/>
              <a:defRPr sz="3467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867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00" name="Google Shape;200;p20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1" name="Google Shape;201;p20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02" name="Google Shape;202;p20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03" name="Google Shape;203;p20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4" name="Google Shape;204;p20"/>
          <p:cNvSpPr txBox="1">
            <a:spLocks noGrp="1"/>
          </p:cNvSpPr>
          <p:nvPr>
            <p:ph type="sldNum" idx="1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205" name="Google Shape;205;p20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06" name="Google Shape;206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7" name="Google Shape;207;p20"/>
          <p:cNvSpPr txBox="1">
            <a:spLocks noGrp="1"/>
          </p:cNvSpPr>
          <p:nvPr>
            <p:ph type="subTitle" idx="1"/>
          </p:nvPr>
        </p:nvSpPr>
        <p:spPr>
          <a:xfrm>
            <a:off x="2061033" y="2633684"/>
            <a:ext cx="3409200" cy="12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0"/>
          <p:cNvSpPr txBox="1">
            <a:spLocks noGrp="1"/>
          </p:cNvSpPr>
          <p:nvPr>
            <p:ph type="subTitle" idx="2"/>
          </p:nvPr>
        </p:nvSpPr>
        <p:spPr>
          <a:xfrm>
            <a:off x="6721767" y="2633684"/>
            <a:ext cx="3409200" cy="12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9" name="Google Shape;209;p20"/>
          <p:cNvSpPr txBox="1">
            <a:spLocks noGrp="1"/>
          </p:cNvSpPr>
          <p:nvPr>
            <p:ph type="subTitle" idx="3"/>
          </p:nvPr>
        </p:nvSpPr>
        <p:spPr>
          <a:xfrm>
            <a:off x="2061033" y="4922000"/>
            <a:ext cx="3409200" cy="12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0"/>
          <p:cNvSpPr txBox="1">
            <a:spLocks noGrp="1"/>
          </p:cNvSpPr>
          <p:nvPr>
            <p:ph type="subTitle" idx="4"/>
          </p:nvPr>
        </p:nvSpPr>
        <p:spPr>
          <a:xfrm>
            <a:off x="6721767" y="4922000"/>
            <a:ext cx="3409200" cy="12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0"/>
          <p:cNvSpPr txBox="1">
            <a:spLocks noGrp="1"/>
          </p:cNvSpPr>
          <p:nvPr>
            <p:ph type="subTitle" idx="5"/>
          </p:nvPr>
        </p:nvSpPr>
        <p:spPr>
          <a:xfrm>
            <a:off x="2061033" y="2227284"/>
            <a:ext cx="3409200" cy="4732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2" name="Google Shape;212;p20"/>
          <p:cNvSpPr txBox="1">
            <a:spLocks noGrp="1"/>
          </p:cNvSpPr>
          <p:nvPr>
            <p:ph type="subTitle" idx="6"/>
          </p:nvPr>
        </p:nvSpPr>
        <p:spPr>
          <a:xfrm>
            <a:off x="6721767" y="2227284"/>
            <a:ext cx="3409200" cy="4732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3" name="Google Shape;213;p20"/>
          <p:cNvSpPr txBox="1">
            <a:spLocks noGrp="1"/>
          </p:cNvSpPr>
          <p:nvPr>
            <p:ph type="subTitle" idx="7"/>
          </p:nvPr>
        </p:nvSpPr>
        <p:spPr>
          <a:xfrm>
            <a:off x="2061033" y="4515600"/>
            <a:ext cx="3409200" cy="4732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4" name="Google Shape;214;p20"/>
          <p:cNvSpPr txBox="1">
            <a:spLocks noGrp="1"/>
          </p:cNvSpPr>
          <p:nvPr>
            <p:ph type="subTitle" idx="8"/>
          </p:nvPr>
        </p:nvSpPr>
        <p:spPr>
          <a:xfrm>
            <a:off x="6721767" y="4515600"/>
            <a:ext cx="3409200" cy="4732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68070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17" name="Google Shape;217;p21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18" name="Google Shape;218;p21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19" name="Google Shape;219;p21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0" name="Google Shape;220;p21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21" name="Google Shape;221;p21"/>
          <p:cNvSpPr txBox="1">
            <a:spLocks noGrp="1"/>
          </p:cNvSpPr>
          <p:nvPr>
            <p:ph type="sldNum" idx="1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222" name="Google Shape;222;p21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23" name="Google Shape;223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4" name="Google Shape;224;p21"/>
          <p:cNvSpPr txBox="1">
            <a:spLocks noGrp="1"/>
          </p:cNvSpPr>
          <p:nvPr>
            <p:ph type="subTitle" idx="1"/>
          </p:nvPr>
        </p:nvSpPr>
        <p:spPr>
          <a:xfrm>
            <a:off x="1205267" y="2865601"/>
            <a:ext cx="29216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5" name="Google Shape;225;p21"/>
          <p:cNvSpPr txBox="1">
            <a:spLocks noGrp="1"/>
          </p:cNvSpPr>
          <p:nvPr>
            <p:ph type="subTitle" idx="2"/>
          </p:nvPr>
        </p:nvSpPr>
        <p:spPr>
          <a:xfrm>
            <a:off x="4638067" y="2865601"/>
            <a:ext cx="29100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subTitle" idx="3"/>
          </p:nvPr>
        </p:nvSpPr>
        <p:spPr>
          <a:xfrm>
            <a:off x="1205267" y="4772567"/>
            <a:ext cx="29216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subTitle" idx="4"/>
          </p:nvPr>
        </p:nvSpPr>
        <p:spPr>
          <a:xfrm>
            <a:off x="4638067" y="4772567"/>
            <a:ext cx="29100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subTitle" idx="5"/>
          </p:nvPr>
        </p:nvSpPr>
        <p:spPr>
          <a:xfrm>
            <a:off x="8065133" y="2865601"/>
            <a:ext cx="2933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ubTitle" idx="6"/>
          </p:nvPr>
        </p:nvSpPr>
        <p:spPr>
          <a:xfrm>
            <a:off x="8065133" y="4772567"/>
            <a:ext cx="2933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0" name="Google Shape;230;p21"/>
          <p:cNvSpPr txBox="1">
            <a:spLocks noGrp="1"/>
          </p:cNvSpPr>
          <p:nvPr>
            <p:ph type="subTitle" idx="7"/>
          </p:nvPr>
        </p:nvSpPr>
        <p:spPr>
          <a:xfrm>
            <a:off x="1211000" y="2208800"/>
            <a:ext cx="2910000" cy="5900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1" name="Google Shape;231;p21"/>
          <p:cNvSpPr txBox="1">
            <a:spLocks noGrp="1"/>
          </p:cNvSpPr>
          <p:nvPr>
            <p:ph type="subTitle" idx="8"/>
          </p:nvPr>
        </p:nvSpPr>
        <p:spPr>
          <a:xfrm>
            <a:off x="4643781" y="2208800"/>
            <a:ext cx="2898400" cy="5900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subTitle" idx="9"/>
          </p:nvPr>
        </p:nvSpPr>
        <p:spPr>
          <a:xfrm>
            <a:off x="8070897" y="2208800"/>
            <a:ext cx="2921600" cy="5900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3" name="Google Shape;233;p21"/>
          <p:cNvSpPr txBox="1">
            <a:spLocks noGrp="1"/>
          </p:cNvSpPr>
          <p:nvPr>
            <p:ph type="subTitle" idx="13"/>
          </p:nvPr>
        </p:nvSpPr>
        <p:spPr>
          <a:xfrm>
            <a:off x="1211000" y="4115733"/>
            <a:ext cx="2910000" cy="5900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4" name="Google Shape;234;p21"/>
          <p:cNvSpPr txBox="1">
            <a:spLocks noGrp="1"/>
          </p:cNvSpPr>
          <p:nvPr>
            <p:ph type="subTitle" idx="14"/>
          </p:nvPr>
        </p:nvSpPr>
        <p:spPr>
          <a:xfrm>
            <a:off x="4643781" y="4115733"/>
            <a:ext cx="2898400" cy="5900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5" name="Google Shape;235;p21"/>
          <p:cNvSpPr txBox="1">
            <a:spLocks noGrp="1"/>
          </p:cNvSpPr>
          <p:nvPr>
            <p:ph type="subTitle" idx="15"/>
          </p:nvPr>
        </p:nvSpPr>
        <p:spPr>
          <a:xfrm>
            <a:off x="8070897" y="4115733"/>
            <a:ext cx="2921600" cy="5900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724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38" name="Google Shape;238;p22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9" name="Google Shape;239;p22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40" name="Google Shape;240;p22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41" name="Google Shape;241;p22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42" name="Google Shape;242;p22"/>
          <p:cNvSpPr txBox="1">
            <a:spLocks noGrp="1"/>
          </p:cNvSpPr>
          <p:nvPr>
            <p:ph type="sldNum" idx="1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243" name="Google Shape;243;p22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44" name="Google Shape;244;p22"/>
          <p:cNvSpPr txBox="1">
            <a:spLocks noGrp="1"/>
          </p:cNvSpPr>
          <p:nvPr>
            <p:ph type="title" hasCustomPrompt="1"/>
          </p:nvPr>
        </p:nvSpPr>
        <p:spPr>
          <a:xfrm>
            <a:off x="2964800" y="736149"/>
            <a:ext cx="6262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5" name="Google Shape;245;p22"/>
          <p:cNvSpPr txBox="1">
            <a:spLocks noGrp="1"/>
          </p:cNvSpPr>
          <p:nvPr>
            <p:ph type="subTitle" idx="1"/>
          </p:nvPr>
        </p:nvSpPr>
        <p:spPr>
          <a:xfrm>
            <a:off x="2964800" y="1819033"/>
            <a:ext cx="6262400" cy="571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6" name="Google Shape;246;p22"/>
          <p:cNvSpPr txBox="1">
            <a:spLocks noGrp="1"/>
          </p:cNvSpPr>
          <p:nvPr>
            <p:ph type="title" idx="2" hasCustomPrompt="1"/>
          </p:nvPr>
        </p:nvSpPr>
        <p:spPr>
          <a:xfrm>
            <a:off x="2964800" y="2539157"/>
            <a:ext cx="6262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7" name="Google Shape;247;p22"/>
          <p:cNvSpPr txBox="1">
            <a:spLocks noGrp="1"/>
          </p:cNvSpPr>
          <p:nvPr>
            <p:ph type="subTitle" idx="3"/>
          </p:nvPr>
        </p:nvSpPr>
        <p:spPr>
          <a:xfrm>
            <a:off x="2964800" y="3622036"/>
            <a:ext cx="6262400" cy="595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8" name="Google Shape;248;p22"/>
          <p:cNvSpPr txBox="1">
            <a:spLocks noGrp="1"/>
          </p:cNvSpPr>
          <p:nvPr>
            <p:ph type="title" idx="4" hasCustomPrompt="1"/>
          </p:nvPr>
        </p:nvSpPr>
        <p:spPr>
          <a:xfrm>
            <a:off x="2964800" y="4342165"/>
            <a:ext cx="6262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9" name="Google Shape;249;p22"/>
          <p:cNvSpPr txBox="1">
            <a:spLocks noGrp="1"/>
          </p:cNvSpPr>
          <p:nvPr>
            <p:ph type="subTitle" idx="5"/>
          </p:nvPr>
        </p:nvSpPr>
        <p:spPr>
          <a:xfrm>
            <a:off x="2964800" y="5425063"/>
            <a:ext cx="6262400" cy="595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944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2" name="Google Shape;252;p23"/>
          <p:cNvSpPr txBox="1">
            <a:spLocks noGrp="1"/>
          </p:cNvSpPr>
          <p:nvPr>
            <p:ph type="title"/>
          </p:nvPr>
        </p:nvSpPr>
        <p:spPr>
          <a:xfrm>
            <a:off x="3130584" y="720000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3" name="Google Shape;253;p23"/>
          <p:cNvSpPr txBox="1">
            <a:spLocks noGrp="1"/>
          </p:cNvSpPr>
          <p:nvPr>
            <p:ph type="subTitle" idx="1"/>
          </p:nvPr>
        </p:nvSpPr>
        <p:spPr>
          <a:xfrm>
            <a:off x="3130533" y="2290433"/>
            <a:ext cx="5930800" cy="16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2798800" y="4815933"/>
            <a:ext cx="65944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lang="en" sz="16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" sz="16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includes icons by</a:t>
            </a:r>
            <a:r>
              <a:rPr lang="en" sz="16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" sz="16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" sz="16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infographics &amp; images by </a:t>
            </a:r>
            <a:r>
              <a:rPr lang="en" sz="16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sz="1600" b="1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255" name="Google Shape;255;p23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56" name="Google Shape;256;p23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57" name="Google Shape;257;p23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8" name="Google Shape;258;p23"/>
          <p:cNvCxnSpPr/>
          <p:nvPr/>
        </p:nvCxnSpPr>
        <p:spPr>
          <a:xfrm rot="10800000" flipH="1">
            <a:off x="463545" y="6333135"/>
            <a:ext cx="11264800" cy="44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351454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62" name="Google Shape;262;p24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64" name="Google Shape;264;p24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5102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5730200" y="6137167"/>
            <a:ext cx="731600" cy="4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cxnSp>
        <p:nvCxnSpPr>
          <p:cNvPr id="267" name="Google Shape;267;p24"/>
          <p:cNvCxnSpPr/>
          <p:nvPr/>
        </p:nvCxnSpPr>
        <p:spPr>
          <a:xfrm>
            <a:off x="6610600" y="63984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91591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  <p:sp>
        <p:nvSpPr>
          <p:cNvPr id="270" name="Google Shape;270;p25"/>
          <p:cNvSpPr/>
          <p:nvPr/>
        </p:nvSpPr>
        <p:spPr>
          <a:xfrm>
            <a:off x="194600" y="198800"/>
            <a:ext cx="11802800" cy="646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71" name="Google Shape;271;p25"/>
          <p:cNvCxnSpPr/>
          <p:nvPr/>
        </p:nvCxnSpPr>
        <p:spPr>
          <a:xfrm>
            <a:off x="5101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5936400" y="293167"/>
            <a:ext cx="319200" cy="3192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73" name="Google Shape;273;p25"/>
          <p:cNvCxnSpPr/>
          <p:nvPr/>
        </p:nvCxnSpPr>
        <p:spPr>
          <a:xfrm>
            <a:off x="6610567" y="452751"/>
            <a:ext cx="5071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463545" y="6333135"/>
            <a:ext cx="11264800" cy="44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136110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91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"/>
          <p:cNvSpPr txBox="1">
            <a:spLocks noGrp="1"/>
          </p:cNvSpPr>
          <p:nvPr>
            <p:ph type="title"/>
          </p:nvPr>
        </p:nvSpPr>
        <p:spPr>
          <a:xfrm>
            <a:off x="955700" y="681200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37822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1200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733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733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733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733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733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733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733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733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733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fld id="{76C7BB13-CE31-4D54-ACAE-5C4470989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39478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27659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D63AA-C21E-3C21-3CE6-E9733C17D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5600" y="656600"/>
            <a:ext cx="7900800" cy="2772400"/>
          </a:xfrm>
        </p:spPr>
        <p:txBody>
          <a:bodyPr/>
          <a:lstStyle/>
          <a:p>
            <a:r>
              <a:rPr lang="uk-UA" sz="4000" dirty="0"/>
              <a:t>Портативна система моніторингу концентрації CO2 з графічним інтерфейсом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ACAAF-5887-1EDE-FE0C-6ED6FDD24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5600" y="3898759"/>
            <a:ext cx="7923600" cy="1844314"/>
          </a:xfrm>
        </p:spPr>
        <p:txBody>
          <a:bodyPr/>
          <a:lstStyle/>
          <a:p>
            <a:r>
              <a:rPr lang="uk-UA" dirty="0"/>
              <a:t>Виконав: студент </a:t>
            </a:r>
            <a:r>
              <a:rPr lang="en-US" dirty="0"/>
              <a:t>IV </a:t>
            </a:r>
            <a:r>
              <a:rPr lang="uk-UA" dirty="0"/>
              <a:t>курсу, групи КВ-11</a:t>
            </a:r>
          </a:p>
          <a:p>
            <a:r>
              <a:rPr lang="uk-UA" dirty="0"/>
              <a:t>Терентьєв Іван Дмитрович</a:t>
            </a:r>
          </a:p>
          <a:p>
            <a:r>
              <a:rPr lang="uk-UA" dirty="0"/>
              <a:t>Керівник: доц.каф. СПіСКС, к.т.</a:t>
            </a:r>
            <a:r>
              <a:rPr lang="uk-UA"/>
              <a:t>н.</a:t>
            </a:r>
            <a:endParaRPr lang="uk-UA" dirty="0"/>
          </a:p>
          <a:p>
            <a:r>
              <a:rPr lang="uk-UA" dirty="0"/>
              <a:t>Щербина Олександр Андрійович</a:t>
            </a:r>
          </a:p>
        </p:txBody>
      </p:sp>
    </p:spTree>
    <p:extLst>
      <p:ext uri="{BB962C8B-B14F-4D97-AF65-F5344CB8AC3E}">
        <p14:creationId xmlns:p14="http://schemas.microsoft.com/office/powerpoint/2010/main" val="47414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29424D-D5AA-C0CD-E394-20F2059A9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Актуальність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F89255-8294-1A6C-7294-80BF30379D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924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375097D9-0F84-A9F5-81C6-598ECC579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393" y="2171700"/>
            <a:ext cx="3617166" cy="4092933"/>
          </a:xfrm>
        </p:spPr>
        <p:txBody>
          <a:bodyPr/>
          <a:lstStyle/>
          <a:p>
            <a:r>
              <a:rPr lang="ru-RU" sz="2000" dirty="0" err="1"/>
              <a:t>Згідно</a:t>
            </a:r>
            <a:r>
              <a:rPr lang="ru-RU" sz="2000" dirty="0"/>
              <a:t> з </a:t>
            </a:r>
            <a:r>
              <a:rPr lang="ru-RU" sz="2000" dirty="0" err="1"/>
              <a:t>дослідженнями</a:t>
            </a:r>
            <a:r>
              <a:rPr lang="ru-RU" sz="2000" dirty="0"/>
              <a:t>, </a:t>
            </a:r>
            <a:r>
              <a:rPr lang="ru-RU" sz="2000" dirty="0" err="1"/>
              <a:t>підвищений</a:t>
            </a:r>
            <a:r>
              <a:rPr lang="ru-RU" sz="2000" dirty="0"/>
              <a:t> </a:t>
            </a:r>
            <a:r>
              <a:rPr lang="ru-RU" sz="2000" dirty="0" err="1"/>
              <a:t>рівень</a:t>
            </a:r>
            <a:r>
              <a:rPr lang="ru-RU" sz="2000" dirty="0"/>
              <a:t> </a:t>
            </a:r>
            <a:r>
              <a:rPr lang="en-US" sz="2000" dirty="0"/>
              <a:t>CO₂ </a:t>
            </a:r>
            <a:r>
              <a:rPr lang="ru-RU" sz="2000" dirty="0" err="1"/>
              <a:t>безпосередньо</a:t>
            </a:r>
            <a:r>
              <a:rPr lang="ru-RU" sz="2000" dirty="0"/>
              <a:t> </a:t>
            </a:r>
            <a:r>
              <a:rPr lang="ru-RU" sz="2000" dirty="0" err="1"/>
              <a:t>впливає</a:t>
            </a:r>
            <a:r>
              <a:rPr lang="ru-RU" sz="2000" dirty="0"/>
              <a:t> на </a:t>
            </a:r>
            <a:r>
              <a:rPr lang="ru-RU" sz="2000" dirty="0" err="1"/>
              <a:t>працездатність</a:t>
            </a:r>
            <a:r>
              <a:rPr lang="ru-RU" sz="2000" dirty="0"/>
              <a:t>, </a:t>
            </a:r>
            <a:r>
              <a:rPr lang="ru-RU" sz="2000" dirty="0" err="1"/>
              <a:t>викликає</a:t>
            </a:r>
            <a:r>
              <a:rPr lang="ru-RU" sz="2000" dirty="0"/>
              <a:t> </a:t>
            </a:r>
            <a:r>
              <a:rPr lang="ru-RU" sz="2000" dirty="0" err="1"/>
              <a:t>втому</a:t>
            </a:r>
            <a:r>
              <a:rPr lang="ru-RU" sz="2000" dirty="0"/>
              <a:t>, </a:t>
            </a:r>
            <a:r>
              <a:rPr lang="ru-RU" sz="2000" dirty="0" err="1"/>
              <a:t>сонливість</a:t>
            </a:r>
            <a:r>
              <a:rPr lang="ru-RU" sz="2000" dirty="0"/>
              <a:t> та </a:t>
            </a:r>
            <a:r>
              <a:rPr lang="ru-RU" sz="2000" dirty="0" err="1"/>
              <a:t>знижує</a:t>
            </a:r>
            <a:r>
              <a:rPr lang="ru-RU" sz="2000" dirty="0"/>
              <a:t> </a:t>
            </a:r>
            <a:r>
              <a:rPr lang="ru-RU" sz="2000" dirty="0" err="1"/>
              <a:t>концентрацію</a:t>
            </a:r>
            <a:r>
              <a:rPr lang="ru-RU" sz="2000" dirty="0"/>
              <a:t>. У </a:t>
            </a:r>
            <a:r>
              <a:rPr lang="ru-RU" sz="2000" dirty="0" err="1"/>
              <a:t>більшості</a:t>
            </a:r>
            <a:r>
              <a:rPr lang="ru-RU" sz="2000" dirty="0"/>
              <a:t> </a:t>
            </a:r>
            <a:r>
              <a:rPr lang="ru-RU" sz="2000" dirty="0" err="1"/>
              <a:t>житлових</a:t>
            </a:r>
            <a:r>
              <a:rPr lang="ru-RU" sz="2000" dirty="0"/>
              <a:t> і </a:t>
            </a:r>
            <a:r>
              <a:rPr lang="ru-RU" sz="2000" dirty="0" err="1"/>
              <a:t>робочих</a:t>
            </a:r>
            <a:r>
              <a:rPr lang="ru-RU" sz="2000" dirty="0"/>
              <a:t> </a:t>
            </a:r>
            <a:r>
              <a:rPr lang="ru-RU" sz="2000" dirty="0" err="1"/>
              <a:t>приміщень</a:t>
            </a:r>
            <a:r>
              <a:rPr lang="ru-RU" sz="2000" dirty="0"/>
              <a:t> </a:t>
            </a:r>
            <a:r>
              <a:rPr lang="ru-RU" sz="2000" dirty="0" err="1"/>
              <a:t>відсутні</a:t>
            </a:r>
            <a:r>
              <a:rPr lang="ru-RU" sz="2000" dirty="0"/>
              <a:t> </a:t>
            </a:r>
            <a:r>
              <a:rPr lang="ru-RU" sz="2000" dirty="0" err="1"/>
              <a:t>засоби</a:t>
            </a:r>
            <a:r>
              <a:rPr lang="ru-RU" sz="2000" dirty="0"/>
              <a:t> </a:t>
            </a:r>
            <a:r>
              <a:rPr lang="ru-RU" sz="2000" dirty="0" err="1"/>
              <a:t>моніторингу</a:t>
            </a:r>
            <a:r>
              <a:rPr lang="ru-RU" sz="2000" dirty="0"/>
              <a:t> </a:t>
            </a:r>
            <a:r>
              <a:rPr lang="ru-RU" sz="2000" dirty="0" err="1"/>
              <a:t>цього</a:t>
            </a:r>
            <a:r>
              <a:rPr lang="ru-RU" sz="2000" dirty="0"/>
              <a:t> параметра.</a:t>
            </a:r>
            <a:endParaRPr lang="en-US" sz="20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B9726C6-8894-D3F1-879B-5F0AEC9077E5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287404" y="2171700"/>
            <a:ext cx="3617173" cy="4092933"/>
          </a:xfrm>
        </p:spPr>
        <p:txBody>
          <a:bodyPr/>
          <a:lstStyle/>
          <a:p>
            <a:r>
              <a:rPr lang="ru-RU" sz="2000" dirty="0" err="1"/>
              <a:t>Існуючі</a:t>
            </a:r>
            <a:r>
              <a:rPr lang="ru-RU" sz="2000" dirty="0"/>
              <a:t> </a:t>
            </a:r>
            <a:r>
              <a:rPr lang="ru-RU" sz="2000" dirty="0" err="1"/>
              <a:t>пристрої</a:t>
            </a:r>
            <a:r>
              <a:rPr lang="ru-RU" sz="2000" dirty="0"/>
              <a:t> для контролю </a:t>
            </a:r>
            <a:r>
              <a:rPr lang="ru-RU" sz="2000" dirty="0" err="1"/>
              <a:t>мікроклімату</a:t>
            </a:r>
            <a:r>
              <a:rPr lang="ru-RU" sz="2000" dirty="0"/>
              <a:t> </a:t>
            </a:r>
            <a:r>
              <a:rPr lang="ru-RU" sz="2000" dirty="0" err="1"/>
              <a:t>здебільшого</a:t>
            </a:r>
            <a:r>
              <a:rPr lang="ru-RU" sz="2000" dirty="0"/>
              <a:t> </a:t>
            </a:r>
            <a:r>
              <a:rPr lang="ru-RU" sz="2000" dirty="0" err="1"/>
              <a:t>дорогі</a:t>
            </a:r>
            <a:r>
              <a:rPr lang="ru-RU" sz="2000" dirty="0"/>
              <a:t>, </a:t>
            </a:r>
            <a:r>
              <a:rPr lang="ru-RU" sz="2000" dirty="0" err="1"/>
              <a:t>потребують</a:t>
            </a:r>
            <a:r>
              <a:rPr lang="ru-RU" sz="2000" dirty="0"/>
              <a:t> </a:t>
            </a:r>
            <a:r>
              <a:rPr lang="ru-RU" sz="2000" dirty="0" err="1"/>
              <a:t>постійного</a:t>
            </a:r>
            <a:r>
              <a:rPr lang="ru-RU" sz="2000" dirty="0"/>
              <a:t> </a:t>
            </a:r>
            <a:r>
              <a:rPr lang="ru-RU" sz="2000" dirty="0" err="1"/>
              <a:t>живлення</a:t>
            </a:r>
            <a:r>
              <a:rPr lang="ru-RU" sz="2000" dirty="0"/>
              <a:t> </a:t>
            </a:r>
            <a:r>
              <a:rPr lang="ru-RU" sz="2000" dirty="0" err="1"/>
              <a:t>або</a:t>
            </a:r>
            <a:r>
              <a:rPr lang="ru-RU" sz="2000" dirty="0"/>
              <a:t> </a:t>
            </a:r>
            <a:r>
              <a:rPr lang="ru-RU" sz="2000" dirty="0" err="1"/>
              <a:t>мають</a:t>
            </a:r>
            <a:r>
              <a:rPr lang="ru-RU" sz="2000" dirty="0"/>
              <a:t> </a:t>
            </a:r>
            <a:r>
              <a:rPr lang="ru-RU" sz="2000" dirty="0" err="1"/>
              <a:t>складну</a:t>
            </a:r>
            <a:r>
              <a:rPr lang="ru-RU" sz="2000" dirty="0"/>
              <a:t> структуру </a:t>
            </a:r>
            <a:r>
              <a:rPr lang="ru-RU" sz="2000" dirty="0" err="1"/>
              <a:t>налаштувань</a:t>
            </a:r>
            <a:r>
              <a:rPr lang="ru-RU" sz="2000" dirty="0"/>
              <a:t>, </a:t>
            </a:r>
            <a:r>
              <a:rPr lang="ru-RU" sz="2000" dirty="0" err="1"/>
              <a:t>що</a:t>
            </a:r>
            <a:r>
              <a:rPr lang="ru-RU" sz="2000" dirty="0"/>
              <a:t> </a:t>
            </a:r>
            <a:r>
              <a:rPr lang="ru-RU" sz="2000" dirty="0" err="1"/>
              <a:t>обмежує</a:t>
            </a:r>
            <a:r>
              <a:rPr lang="ru-RU" sz="2000" dirty="0"/>
              <a:t> </a:t>
            </a:r>
            <a:r>
              <a:rPr lang="ru-RU" sz="2000" dirty="0" err="1"/>
              <a:t>їх</a:t>
            </a:r>
            <a:r>
              <a:rPr lang="ru-RU" sz="2000" dirty="0"/>
              <a:t> </a:t>
            </a:r>
            <a:r>
              <a:rPr lang="ru-RU" sz="2000" dirty="0" err="1"/>
              <a:t>використання</a:t>
            </a:r>
            <a:r>
              <a:rPr lang="ru-RU" sz="2000" dirty="0"/>
              <a:t> у </a:t>
            </a:r>
            <a:r>
              <a:rPr lang="ru-RU" sz="2000" dirty="0" err="1"/>
              <a:t>побуті</a:t>
            </a:r>
            <a:r>
              <a:rPr lang="ru-RU" sz="2000" dirty="0"/>
              <a:t> </a:t>
            </a:r>
            <a:r>
              <a:rPr lang="ru-RU" sz="2000" dirty="0" err="1"/>
              <a:t>чи</a:t>
            </a:r>
            <a:r>
              <a:rPr lang="ru-RU" sz="2000" dirty="0"/>
              <a:t> в </a:t>
            </a:r>
            <a:r>
              <a:rPr lang="ru-RU" sz="2000" dirty="0" err="1"/>
              <a:t>умовах</a:t>
            </a:r>
            <a:r>
              <a:rPr lang="ru-RU" sz="2000" dirty="0"/>
              <a:t> </a:t>
            </a:r>
            <a:r>
              <a:rPr lang="ru-RU" sz="2000" dirty="0" err="1"/>
              <a:t>обмежених</a:t>
            </a:r>
            <a:r>
              <a:rPr lang="ru-RU" sz="2000" dirty="0"/>
              <a:t> </a:t>
            </a:r>
            <a:r>
              <a:rPr lang="ru-RU" sz="2000" dirty="0" err="1"/>
              <a:t>ресурсів</a:t>
            </a:r>
            <a:r>
              <a:rPr lang="ru-RU" sz="2000" dirty="0"/>
              <a:t>.</a:t>
            </a:r>
            <a:endParaRPr lang="en-US" sz="200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49A5D81D-7558-E209-980A-6143D5F448C5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8041431" y="2171700"/>
            <a:ext cx="3617155" cy="4092933"/>
          </a:xfrm>
        </p:spPr>
        <p:txBody>
          <a:bodyPr/>
          <a:lstStyle/>
          <a:p>
            <a:r>
              <a:rPr lang="ru-RU" sz="2000" dirty="0" err="1"/>
              <a:t>Більшість</a:t>
            </a:r>
            <a:r>
              <a:rPr lang="ru-RU" sz="2000" dirty="0"/>
              <a:t> </a:t>
            </a:r>
            <a:r>
              <a:rPr lang="ru-RU" sz="2000" dirty="0" err="1"/>
              <a:t>доступних</a:t>
            </a:r>
            <a:r>
              <a:rPr lang="ru-RU" sz="2000" dirty="0"/>
              <a:t> </a:t>
            </a:r>
            <a:r>
              <a:rPr lang="ru-RU" sz="2000" dirty="0" err="1"/>
              <a:t>рішень</a:t>
            </a:r>
            <a:r>
              <a:rPr lang="ru-RU" sz="2000" dirty="0"/>
              <a:t> </a:t>
            </a:r>
            <a:r>
              <a:rPr lang="ru-RU" sz="2000" dirty="0" err="1"/>
              <a:t>або</a:t>
            </a:r>
            <a:r>
              <a:rPr lang="ru-RU" sz="2000" dirty="0"/>
              <a:t> </a:t>
            </a:r>
            <a:r>
              <a:rPr lang="ru-RU" sz="2000" dirty="0" err="1"/>
              <a:t>складні</a:t>
            </a:r>
            <a:r>
              <a:rPr lang="ru-RU" sz="2000" dirty="0"/>
              <a:t> в </a:t>
            </a:r>
            <a:r>
              <a:rPr lang="ru-RU" sz="2000" dirty="0" err="1"/>
              <a:t>користуванні</a:t>
            </a:r>
            <a:r>
              <a:rPr lang="ru-RU" sz="2000" dirty="0"/>
              <a:t>, </a:t>
            </a:r>
            <a:r>
              <a:rPr lang="ru-RU" sz="2000" dirty="0" err="1"/>
              <a:t>або</a:t>
            </a:r>
            <a:r>
              <a:rPr lang="ru-RU" sz="2000" dirty="0"/>
              <a:t> </a:t>
            </a:r>
            <a:r>
              <a:rPr lang="ru-RU" sz="2000" dirty="0" err="1"/>
              <a:t>прив’язані</a:t>
            </a:r>
            <a:r>
              <a:rPr lang="ru-RU" sz="2000" dirty="0"/>
              <a:t> до </a:t>
            </a:r>
            <a:r>
              <a:rPr lang="ru-RU" sz="2000" dirty="0" err="1"/>
              <a:t>хмарних</a:t>
            </a:r>
            <a:r>
              <a:rPr lang="ru-RU" sz="2000" dirty="0"/>
              <a:t> </a:t>
            </a:r>
            <a:r>
              <a:rPr lang="ru-RU" sz="2000" dirty="0" err="1"/>
              <a:t>сервісів</a:t>
            </a:r>
            <a:r>
              <a:rPr lang="ru-RU" sz="2000" dirty="0"/>
              <a:t>. </a:t>
            </a:r>
            <a:r>
              <a:rPr lang="ru-RU" sz="2000" dirty="0" err="1"/>
              <a:t>Це</a:t>
            </a:r>
            <a:r>
              <a:rPr lang="ru-RU" sz="2000" dirty="0"/>
              <a:t> </a:t>
            </a:r>
            <a:r>
              <a:rPr lang="ru-RU" sz="2000" dirty="0" err="1"/>
              <a:t>унеможливлює</a:t>
            </a:r>
            <a:r>
              <a:rPr lang="ru-RU" sz="2000" dirty="0"/>
              <a:t> </a:t>
            </a:r>
            <a:r>
              <a:rPr lang="ru-RU" sz="2000" dirty="0" err="1"/>
              <a:t>їх</a:t>
            </a:r>
            <a:r>
              <a:rPr lang="ru-RU" sz="2000" dirty="0"/>
              <a:t> </a:t>
            </a:r>
            <a:r>
              <a:rPr lang="ru-RU" sz="2000" dirty="0" err="1"/>
              <a:t>застосування</a:t>
            </a:r>
            <a:r>
              <a:rPr lang="ru-RU" sz="2000" dirty="0"/>
              <a:t> у </a:t>
            </a:r>
            <a:r>
              <a:rPr lang="ru-RU" sz="2000" dirty="0" err="1"/>
              <a:t>простих</a:t>
            </a:r>
            <a:r>
              <a:rPr lang="ru-RU" sz="2000" dirty="0"/>
              <a:t> </a:t>
            </a:r>
            <a:r>
              <a:rPr lang="ru-RU" sz="2000" dirty="0" err="1"/>
              <a:t>побутових</a:t>
            </a:r>
            <a:r>
              <a:rPr lang="ru-RU" sz="2000" dirty="0"/>
              <a:t> </a:t>
            </a:r>
            <a:r>
              <a:rPr lang="ru-RU" sz="2000" dirty="0" err="1"/>
              <a:t>умовах</a:t>
            </a:r>
            <a:r>
              <a:rPr lang="ru-RU" sz="2000" dirty="0"/>
              <a:t>, де </a:t>
            </a:r>
            <a:r>
              <a:rPr lang="ru-RU" sz="2000" dirty="0" err="1"/>
              <a:t>потрібна</a:t>
            </a:r>
            <a:r>
              <a:rPr lang="ru-RU" sz="2000" dirty="0"/>
              <a:t> </a:t>
            </a:r>
            <a:r>
              <a:rPr lang="ru-RU" sz="2000" dirty="0" err="1"/>
              <a:t>швидка</a:t>
            </a:r>
            <a:r>
              <a:rPr lang="ru-RU" sz="2000" dirty="0"/>
              <a:t> та </a:t>
            </a:r>
            <a:r>
              <a:rPr lang="ru-RU" sz="2000" dirty="0" err="1"/>
              <a:t>надійна</a:t>
            </a:r>
            <a:r>
              <a:rPr lang="ru-RU" sz="2000" dirty="0"/>
              <a:t> </a:t>
            </a:r>
            <a:r>
              <a:rPr lang="ru-RU" sz="2000" dirty="0" err="1"/>
              <a:t>індикація</a:t>
            </a:r>
            <a:r>
              <a:rPr lang="ru-RU" sz="2000" dirty="0"/>
              <a:t> </a:t>
            </a:r>
            <a:r>
              <a:rPr lang="ru-RU" sz="2000" dirty="0" err="1"/>
              <a:t>якості</a:t>
            </a:r>
            <a:r>
              <a:rPr lang="ru-RU" sz="2000" dirty="0"/>
              <a:t> </a:t>
            </a:r>
            <a:r>
              <a:rPr lang="ru-RU" sz="2000" dirty="0" err="1"/>
              <a:t>повітря</a:t>
            </a:r>
            <a:r>
              <a:rPr lang="ru-RU" sz="2000" dirty="0"/>
              <a:t>.</a:t>
            </a:r>
            <a:endParaRPr lang="en-US" sz="2000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90D33AFF-E32C-7ACA-2805-2093195CCEE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33392" y="728019"/>
            <a:ext cx="3617167" cy="1257896"/>
          </a:xfrm>
        </p:spPr>
        <p:txBody>
          <a:bodyPr/>
          <a:lstStyle/>
          <a:p>
            <a:r>
              <a:rPr lang="ru-RU" sz="2400" dirty="0" err="1"/>
              <a:t>Погіршення</a:t>
            </a:r>
            <a:r>
              <a:rPr lang="ru-RU" sz="2400" dirty="0"/>
              <a:t> </a:t>
            </a:r>
            <a:r>
              <a:rPr lang="ru-RU" sz="2400" dirty="0" err="1"/>
              <a:t>якості</a:t>
            </a:r>
            <a:r>
              <a:rPr lang="ru-RU" sz="2400" dirty="0"/>
              <a:t> </a:t>
            </a:r>
            <a:r>
              <a:rPr lang="ru-RU" sz="2400" dirty="0" err="1"/>
              <a:t>повітря</a:t>
            </a:r>
            <a:r>
              <a:rPr lang="ru-RU" sz="2400" dirty="0"/>
              <a:t> у </a:t>
            </a:r>
            <a:r>
              <a:rPr lang="ru-RU" sz="2400" dirty="0" err="1"/>
              <a:t>приміщеннях</a:t>
            </a:r>
            <a:endParaRPr lang="en-US" sz="2400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EBED3D18-14E0-4129-A441-5BE7E065956C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4287404" y="728020"/>
            <a:ext cx="3617165" cy="1257895"/>
          </a:xfrm>
        </p:spPr>
        <p:txBody>
          <a:bodyPr/>
          <a:lstStyle/>
          <a:p>
            <a:r>
              <a:rPr lang="ru-RU" sz="2400" dirty="0" err="1"/>
              <a:t>Недоступність</a:t>
            </a:r>
            <a:r>
              <a:rPr lang="ru-RU" sz="2400" dirty="0"/>
              <a:t> </a:t>
            </a:r>
            <a:r>
              <a:rPr lang="ru-RU" sz="2400" dirty="0" err="1"/>
              <a:t>ефективних</a:t>
            </a:r>
            <a:r>
              <a:rPr lang="ru-RU" sz="2400" dirty="0"/>
              <a:t> </a:t>
            </a:r>
            <a:r>
              <a:rPr lang="ru-RU" sz="2400" dirty="0" err="1"/>
              <a:t>автономних</a:t>
            </a:r>
            <a:r>
              <a:rPr lang="ru-RU" sz="2400" dirty="0"/>
              <a:t> </a:t>
            </a:r>
            <a:r>
              <a:rPr lang="ru-RU" sz="2400" dirty="0" err="1"/>
              <a:t>рішень</a:t>
            </a:r>
            <a:endParaRPr lang="en-US" sz="3600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76A59FD7-71B6-6D05-6D3A-D93F4D92640A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8041414" y="728019"/>
            <a:ext cx="3617165" cy="1257894"/>
          </a:xfrm>
        </p:spPr>
        <p:txBody>
          <a:bodyPr/>
          <a:lstStyle/>
          <a:p>
            <a:r>
              <a:rPr lang="ru-RU" sz="2400" dirty="0"/>
              <a:t>Потреба у </a:t>
            </a:r>
            <a:r>
              <a:rPr lang="ru-RU" sz="2400" dirty="0" err="1"/>
              <a:t>мобільних</a:t>
            </a:r>
            <a:r>
              <a:rPr lang="ru-RU" sz="2400" dirty="0"/>
              <a:t> та </a:t>
            </a:r>
            <a:r>
              <a:rPr lang="ru-RU" sz="2400" dirty="0" err="1"/>
              <a:t>енергоефективних</a:t>
            </a:r>
            <a:r>
              <a:rPr lang="ru-RU" sz="2400" dirty="0"/>
              <a:t> системах</a:t>
            </a:r>
            <a:endParaRPr lang="en-US" sz="36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2D653FE-C295-5996-78A6-DEEECC6597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76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A05480-DDFC-8646-EE8C-7AC69C463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Мета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86BAEA-C63D-CA97-3943-373DC27CF2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0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44858B75-60D2-A9E9-D3B6-C25E5BF02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625643"/>
            <a:ext cx="11315700" cy="5495758"/>
          </a:xfrm>
        </p:spPr>
        <p:txBody>
          <a:bodyPr anchor="ctr"/>
          <a:lstStyle/>
          <a:p>
            <a:pPr marL="139700" indent="0">
              <a:buNone/>
            </a:pPr>
            <a:r>
              <a:rPr lang="ru-RU" b="1" dirty="0" err="1"/>
              <a:t>Забезпечити</a:t>
            </a:r>
            <a:r>
              <a:rPr lang="ru-RU" b="1" dirty="0"/>
              <a:t> контроль </a:t>
            </a:r>
            <a:r>
              <a:rPr lang="ru-RU" b="1" dirty="0" err="1"/>
              <a:t>якості</a:t>
            </a:r>
            <a:r>
              <a:rPr lang="ru-RU" b="1" dirty="0"/>
              <a:t> </a:t>
            </a:r>
            <a:r>
              <a:rPr lang="ru-RU" b="1" dirty="0" err="1"/>
              <a:t>повітря</a:t>
            </a:r>
            <a:r>
              <a:rPr lang="ru-RU" b="1" dirty="0"/>
              <a:t> у </a:t>
            </a:r>
            <a:r>
              <a:rPr lang="ru-RU" b="1" dirty="0" err="1"/>
              <a:t>приміщеннях</a:t>
            </a:r>
            <a:r>
              <a:rPr lang="ru-RU" b="1" dirty="0"/>
              <a:t>.</a:t>
            </a:r>
            <a:r>
              <a:rPr lang="ru-RU" dirty="0"/>
              <a:t> </a:t>
            </a:r>
            <a:r>
              <a:rPr lang="ru-RU" dirty="0" err="1"/>
              <a:t>Розробити</a:t>
            </a:r>
            <a:r>
              <a:rPr lang="ru-RU" dirty="0"/>
              <a:t> </a:t>
            </a:r>
            <a:r>
              <a:rPr lang="ru-RU" dirty="0" err="1"/>
              <a:t>портативний</a:t>
            </a:r>
            <a:r>
              <a:rPr lang="ru-RU" dirty="0"/>
              <a:t> </a:t>
            </a:r>
            <a:r>
              <a:rPr lang="ru-RU" dirty="0" err="1"/>
              <a:t>пристрій</a:t>
            </a:r>
            <a:r>
              <a:rPr lang="ru-RU" dirty="0"/>
              <a:t> для </a:t>
            </a:r>
            <a:r>
              <a:rPr lang="ru-RU" dirty="0" err="1"/>
              <a:t>моніторингу</a:t>
            </a:r>
            <a:r>
              <a:rPr lang="ru-RU" dirty="0"/>
              <a:t> </a:t>
            </a:r>
            <a:r>
              <a:rPr lang="en-US" dirty="0"/>
              <a:t>CO₂, </a:t>
            </a:r>
            <a:r>
              <a:rPr lang="ru-RU" dirty="0" err="1"/>
              <a:t>температури</a:t>
            </a:r>
            <a:r>
              <a:rPr lang="ru-RU" dirty="0"/>
              <a:t> та </a:t>
            </a:r>
            <a:r>
              <a:rPr lang="ru-RU" dirty="0" err="1"/>
              <a:t>вологості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допоможе</a:t>
            </a:r>
            <a:r>
              <a:rPr lang="ru-RU" dirty="0"/>
              <a:t> оперативно </a:t>
            </a:r>
            <a:r>
              <a:rPr lang="ru-RU" dirty="0" err="1"/>
              <a:t>реагувати</a:t>
            </a:r>
            <a:r>
              <a:rPr lang="ru-RU" dirty="0"/>
              <a:t> на </a:t>
            </a:r>
            <a:r>
              <a:rPr lang="ru-RU" dirty="0" err="1"/>
              <a:t>зміни</a:t>
            </a:r>
            <a:r>
              <a:rPr lang="ru-RU" dirty="0"/>
              <a:t> </a:t>
            </a:r>
            <a:r>
              <a:rPr lang="ru-RU" dirty="0" err="1"/>
              <a:t>мікроклімату</a:t>
            </a:r>
            <a:r>
              <a:rPr lang="ru-RU" dirty="0"/>
              <a:t>.</a:t>
            </a:r>
          </a:p>
          <a:p>
            <a:pPr marL="139700" indent="0">
              <a:buNone/>
            </a:pPr>
            <a:endParaRPr lang="ru-RU" dirty="0"/>
          </a:p>
          <a:p>
            <a:pPr marL="139700" indent="0">
              <a:buNone/>
            </a:pPr>
            <a:r>
              <a:rPr lang="ru-RU" b="1" dirty="0" err="1"/>
              <a:t>Підвищити</a:t>
            </a:r>
            <a:r>
              <a:rPr lang="ru-RU" b="1" dirty="0"/>
              <a:t> комфорт і </a:t>
            </a:r>
            <a:r>
              <a:rPr lang="ru-RU" b="1" dirty="0" err="1"/>
              <a:t>продуктивність</a:t>
            </a:r>
            <a:r>
              <a:rPr lang="ru-RU" b="1" dirty="0"/>
              <a:t>.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технічне</a:t>
            </a:r>
            <a:r>
              <a:rPr lang="ru-RU" dirty="0"/>
              <a:t> </a:t>
            </a:r>
            <a:r>
              <a:rPr lang="ru-RU" dirty="0" err="1"/>
              <a:t>рішення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сприятиме</a:t>
            </a:r>
            <a:r>
              <a:rPr lang="ru-RU" dirty="0"/>
              <a:t> </a:t>
            </a:r>
            <a:r>
              <a:rPr lang="ru-RU" dirty="0" err="1"/>
              <a:t>кращому</a:t>
            </a:r>
            <a:r>
              <a:rPr lang="ru-RU" dirty="0"/>
              <a:t> </a:t>
            </a:r>
            <a:r>
              <a:rPr lang="ru-RU" dirty="0" err="1"/>
              <a:t>самопочуттю</a:t>
            </a:r>
            <a:r>
              <a:rPr lang="ru-RU" dirty="0"/>
              <a:t> людей у </a:t>
            </a:r>
            <a:r>
              <a:rPr lang="ru-RU" dirty="0" err="1"/>
              <a:t>навчальних</a:t>
            </a:r>
            <a:r>
              <a:rPr lang="ru-RU" dirty="0"/>
              <a:t>, </a:t>
            </a:r>
            <a:r>
              <a:rPr lang="ru-RU" dirty="0" err="1"/>
              <a:t>житлових</a:t>
            </a:r>
            <a:r>
              <a:rPr lang="ru-RU" dirty="0"/>
              <a:t> і </a:t>
            </a:r>
            <a:r>
              <a:rPr lang="ru-RU" dirty="0" err="1"/>
              <a:t>робочих</a:t>
            </a:r>
            <a:r>
              <a:rPr lang="ru-RU" dirty="0"/>
              <a:t> просторах.</a:t>
            </a:r>
          </a:p>
          <a:p>
            <a:pPr marL="139700" indent="0">
              <a:buNone/>
            </a:pPr>
            <a:endParaRPr lang="ru-RU" dirty="0"/>
          </a:p>
          <a:p>
            <a:pPr marL="139700" indent="0">
              <a:buNone/>
            </a:pPr>
            <a:r>
              <a:rPr lang="ru-RU" b="1" dirty="0" err="1"/>
              <a:t>Реалізувати</a:t>
            </a:r>
            <a:r>
              <a:rPr lang="ru-RU" b="1" dirty="0"/>
              <a:t> </a:t>
            </a:r>
            <a:r>
              <a:rPr lang="ru-RU" b="1" dirty="0" err="1"/>
              <a:t>автономну</a:t>
            </a:r>
            <a:r>
              <a:rPr lang="ru-RU" b="1" dirty="0"/>
              <a:t> систему.</a:t>
            </a:r>
            <a:r>
              <a:rPr lang="ru-RU" dirty="0"/>
              <a:t> </a:t>
            </a:r>
            <a:r>
              <a:rPr lang="ru-RU" dirty="0" err="1"/>
              <a:t>Забезпечити</a:t>
            </a:r>
            <a:r>
              <a:rPr lang="ru-RU" dirty="0"/>
              <a:t> </a:t>
            </a:r>
            <a:r>
              <a:rPr lang="ru-RU" dirty="0" err="1"/>
              <a:t>енергонезалежність</a:t>
            </a:r>
            <a:r>
              <a:rPr lang="ru-RU" dirty="0"/>
              <a:t> пристрою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/>
              <a:t>живлення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акумулятора</a:t>
            </a:r>
            <a:r>
              <a:rPr lang="ru-RU" dirty="0"/>
              <a:t> та оптимального </a:t>
            </a:r>
            <a:r>
              <a:rPr lang="ru-RU" dirty="0" err="1"/>
              <a:t>енергоспоживання</a:t>
            </a:r>
            <a:r>
              <a:rPr lang="ru-RU" dirty="0"/>
              <a:t>.</a:t>
            </a:r>
          </a:p>
          <a:p>
            <a:pPr marL="139700" indent="0">
              <a:buNone/>
            </a:pPr>
            <a:endParaRPr lang="ru-RU" dirty="0"/>
          </a:p>
          <a:p>
            <a:pPr marL="139700" indent="0">
              <a:buNone/>
            </a:pPr>
            <a:r>
              <a:rPr lang="ru-RU" b="1" dirty="0" err="1"/>
              <a:t>Використати</a:t>
            </a:r>
            <a:r>
              <a:rPr lang="ru-RU" b="1" dirty="0"/>
              <a:t> </a:t>
            </a:r>
            <a:r>
              <a:rPr lang="ru-RU" b="1" dirty="0" err="1"/>
              <a:t>сучасну</a:t>
            </a:r>
            <a:r>
              <a:rPr lang="ru-RU" b="1" dirty="0"/>
              <a:t> </a:t>
            </a:r>
            <a:r>
              <a:rPr lang="ru-RU" b="1" dirty="0" err="1"/>
              <a:t>елементну</a:t>
            </a:r>
            <a:r>
              <a:rPr lang="ru-RU" b="1" dirty="0"/>
              <a:t> базу.</a:t>
            </a:r>
            <a:r>
              <a:rPr lang="ru-RU" dirty="0"/>
              <a:t> </a:t>
            </a:r>
            <a:r>
              <a:rPr lang="ru-RU" dirty="0" err="1"/>
              <a:t>Застосувати</a:t>
            </a:r>
            <a:r>
              <a:rPr lang="ru-RU" dirty="0"/>
              <a:t> </a:t>
            </a:r>
            <a:r>
              <a:rPr lang="ru-RU" dirty="0" err="1"/>
              <a:t>мікроконтролер</a:t>
            </a:r>
            <a:r>
              <a:rPr lang="ru-RU" dirty="0"/>
              <a:t> </a:t>
            </a:r>
            <a:r>
              <a:rPr lang="en-US" dirty="0"/>
              <a:t>STM32 </a:t>
            </a:r>
            <a:r>
              <a:rPr lang="ru-RU" dirty="0"/>
              <a:t>та </a:t>
            </a:r>
            <a:r>
              <a:rPr lang="ru-RU" dirty="0" err="1"/>
              <a:t>цифрові</a:t>
            </a:r>
            <a:r>
              <a:rPr lang="ru-RU" dirty="0"/>
              <a:t> </a:t>
            </a:r>
            <a:r>
              <a:rPr lang="ru-RU" dirty="0" err="1"/>
              <a:t>сенсори</a:t>
            </a:r>
            <a:r>
              <a:rPr lang="ru-RU" dirty="0"/>
              <a:t> для </a:t>
            </a:r>
            <a:r>
              <a:rPr lang="ru-RU" dirty="0" err="1"/>
              <a:t>точних</a:t>
            </a:r>
            <a:r>
              <a:rPr lang="ru-RU" dirty="0"/>
              <a:t> і </a:t>
            </a:r>
            <a:r>
              <a:rPr lang="ru-RU" dirty="0" err="1"/>
              <a:t>стабільних</a:t>
            </a:r>
            <a:r>
              <a:rPr lang="ru-RU" dirty="0"/>
              <a:t> </a:t>
            </a:r>
            <a:r>
              <a:rPr lang="ru-RU" dirty="0" err="1"/>
              <a:t>вимірювань</a:t>
            </a:r>
            <a:r>
              <a:rPr lang="ru-RU" dirty="0"/>
              <a:t> без потреби в складному </a:t>
            </a:r>
            <a:r>
              <a:rPr lang="ru-RU" dirty="0" err="1"/>
              <a:t>обслуговуванні</a:t>
            </a:r>
            <a:r>
              <a:rPr lang="ru-RU" dirty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74DBFC-BCB9-CF78-C33C-D3546C459A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89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74F585-8EDA-4A5D-F71C-164D2E0E3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Огляд існуючих рішень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55EE08-A517-4294-3F13-7E08AF8646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2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12">
            <a:extLst>
              <a:ext uri="{FF2B5EF4-FFF2-40B4-BE49-F238E27FC236}">
                <a16:creationId xmlns:a16="http://schemas.microsoft.com/office/drawing/2014/main" id="{FEB8631E-FE56-7F18-17FC-A3FE87E36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2219" y="1661830"/>
            <a:ext cx="3531448" cy="1767167"/>
          </a:xfrm>
        </p:spPr>
        <p:txBody>
          <a:bodyPr/>
          <a:lstStyle/>
          <a:p>
            <a:pPr marL="0" indent="0">
              <a:lnSpc>
                <a:spcPct val="100000"/>
              </a:lnSpc>
            </a:pPr>
            <a:r>
              <a:rPr lang="en-US" sz="1600" dirty="0"/>
              <a:t>Google Nest, Tado — </a:t>
            </a:r>
            <a:r>
              <a:rPr lang="ru-RU" sz="1600" dirty="0" err="1"/>
              <a:t>керують</a:t>
            </a:r>
            <a:r>
              <a:rPr lang="ru-RU" sz="1600" dirty="0"/>
              <a:t> </a:t>
            </a:r>
            <a:r>
              <a:rPr lang="ru-RU" sz="1600" dirty="0" err="1"/>
              <a:t>опаленням</a:t>
            </a:r>
            <a:r>
              <a:rPr lang="ru-RU" sz="1600" dirty="0"/>
              <a:t>, </a:t>
            </a:r>
            <a:r>
              <a:rPr lang="ru-RU" sz="1600" dirty="0" err="1"/>
              <a:t>збирають</a:t>
            </a:r>
            <a:r>
              <a:rPr lang="ru-RU" sz="1600" dirty="0"/>
              <a:t> </a:t>
            </a:r>
            <a:r>
              <a:rPr lang="ru-RU" sz="1600" dirty="0" err="1"/>
              <a:t>дані</a:t>
            </a:r>
            <a:r>
              <a:rPr lang="ru-RU" sz="1600" dirty="0"/>
              <a:t> про температуру, </a:t>
            </a:r>
            <a:r>
              <a:rPr lang="ru-RU" sz="1600" dirty="0" err="1"/>
              <a:t>вологість</a:t>
            </a:r>
            <a:r>
              <a:rPr lang="ru-RU" sz="1600" dirty="0"/>
              <a:t> і рух. </a:t>
            </a:r>
            <a:r>
              <a:rPr lang="ru-RU" sz="1600" dirty="0" err="1"/>
              <a:t>Вимагають</a:t>
            </a:r>
            <a:r>
              <a:rPr lang="ru-RU" sz="1600" dirty="0"/>
              <a:t> </a:t>
            </a:r>
            <a:r>
              <a:rPr lang="ru-RU" sz="1600" dirty="0" err="1"/>
              <a:t>підключення</a:t>
            </a:r>
            <a:r>
              <a:rPr lang="ru-RU" sz="1600" dirty="0"/>
              <a:t> до </a:t>
            </a:r>
            <a:r>
              <a:rPr lang="en-US" sz="1600" dirty="0"/>
              <a:t>Wi-Fi.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01E8BAB5-F3EC-0330-90EE-6FE1478D5661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617800" y="1707471"/>
            <a:ext cx="2933200" cy="1767167"/>
          </a:xfrm>
        </p:spPr>
        <p:txBody>
          <a:bodyPr/>
          <a:lstStyle/>
          <a:p>
            <a:pPr marL="0" indent="0">
              <a:lnSpc>
                <a:spcPct val="100000"/>
              </a:lnSpc>
            </a:pPr>
            <a:r>
              <a:rPr lang="en-US" sz="1600" dirty="0"/>
              <a:t>Netatmo, Xiaomi Mi Monitor — </a:t>
            </a:r>
            <a:r>
              <a:rPr lang="ru-RU" sz="1600" dirty="0" err="1"/>
              <a:t>вимірюють</a:t>
            </a:r>
            <a:r>
              <a:rPr lang="ru-RU" sz="1600" dirty="0"/>
              <a:t> </a:t>
            </a:r>
            <a:r>
              <a:rPr lang="ru-RU" sz="1600" dirty="0" err="1"/>
              <a:t>базові</a:t>
            </a:r>
            <a:r>
              <a:rPr lang="ru-RU" sz="1600" dirty="0"/>
              <a:t> </a:t>
            </a:r>
            <a:r>
              <a:rPr lang="ru-RU" sz="1600" dirty="0" err="1"/>
              <a:t>параметри</a:t>
            </a:r>
            <a:r>
              <a:rPr lang="ru-RU" sz="1600" dirty="0"/>
              <a:t> (температура, </a:t>
            </a:r>
            <a:r>
              <a:rPr lang="ru-RU" sz="1600" dirty="0" err="1"/>
              <a:t>вологість</a:t>
            </a:r>
            <a:r>
              <a:rPr lang="ru-RU" sz="1600" dirty="0"/>
              <a:t>), </a:t>
            </a:r>
            <a:r>
              <a:rPr lang="ru-RU" sz="1600" dirty="0" err="1"/>
              <a:t>мають</a:t>
            </a:r>
            <a:r>
              <a:rPr lang="ru-RU" sz="1600" dirty="0"/>
              <a:t> </a:t>
            </a:r>
            <a:r>
              <a:rPr lang="en-US" sz="1600" dirty="0"/>
              <a:t>E-Ink </a:t>
            </a:r>
            <a:r>
              <a:rPr lang="ru-RU" sz="1600" dirty="0" err="1"/>
              <a:t>дисплеї</a:t>
            </a:r>
            <a:r>
              <a:rPr lang="ru-RU" sz="1600" dirty="0"/>
              <a:t>, </a:t>
            </a:r>
            <a:r>
              <a:rPr lang="ru-RU" sz="1600" dirty="0" err="1"/>
              <a:t>працюють</a:t>
            </a:r>
            <a:r>
              <a:rPr lang="ru-RU" sz="1600" dirty="0"/>
              <a:t> на батарейках.</a:t>
            </a:r>
            <a:endParaRPr lang="en-US" sz="1600" dirty="0"/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062C8478-F5A5-7B55-CD60-263DBDEC707F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8076733" y="1661831"/>
            <a:ext cx="3543048" cy="1767166"/>
          </a:xfrm>
        </p:spPr>
        <p:txBody>
          <a:bodyPr/>
          <a:lstStyle/>
          <a:p>
            <a:pPr marL="0" indent="0">
              <a:lnSpc>
                <a:spcPct val="100000"/>
              </a:lnSpc>
            </a:pPr>
            <a:r>
              <a:rPr lang="en-US" sz="1600" dirty="0"/>
              <a:t>Ajax </a:t>
            </a:r>
            <a:r>
              <a:rPr lang="en-US" sz="1600" dirty="0" err="1"/>
              <a:t>LifeQuality</a:t>
            </a:r>
            <a:r>
              <a:rPr lang="en-US" sz="1600" dirty="0"/>
              <a:t> — </a:t>
            </a:r>
            <a:r>
              <a:rPr lang="ru-RU" sz="1600" dirty="0" err="1"/>
              <a:t>поєднують</a:t>
            </a:r>
            <a:r>
              <a:rPr lang="ru-RU" sz="1600" dirty="0"/>
              <a:t> </a:t>
            </a:r>
            <a:r>
              <a:rPr lang="en-US" sz="1600" dirty="0"/>
              <a:t>CO₂-</a:t>
            </a:r>
            <a:r>
              <a:rPr lang="ru-RU" sz="1600" dirty="0"/>
              <a:t>датчики з </a:t>
            </a:r>
            <a:r>
              <a:rPr lang="ru-RU" sz="1600" dirty="0" err="1"/>
              <a:t>охоронними</a:t>
            </a:r>
            <a:r>
              <a:rPr lang="ru-RU" sz="1600" dirty="0"/>
              <a:t> </a:t>
            </a:r>
            <a:r>
              <a:rPr lang="ru-RU" sz="1600" dirty="0" err="1"/>
              <a:t>функціями</a:t>
            </a:r>
            <a:r>
              <a:rPr lang="ru-RU" sz="1600" dirty="0"/>
              <a:t>. </a:t>
            </a:r>
            <a:r>
              <a:rPr lang="ru-RU" sz="1600" dirty="0" err="1"/>
              <a:t>Працюють</a:t>
            </a:r>
            <a:r>
              <a:rPr lang="ru-RU" sz="1600" dirty="0"/>
              <a:t> у </a:t>
            </a:r>
            <a:r>
              <a:rPr lang="ru-RU" sz="1600" dirty="0" err="1"/>
              <a:t>складі</a:t>
            </a:r>
            <a:r>
              <a:rPr lang="ru-RU" sz="1600" dirty="0"/>
              <a:t> </a:t>
            </a:r>
            <a:r>
              <a:rPr lang="ru-RU" sz="1600" dirty="0" err="1"/>
              <a:t>фірмової</a:t>
            </a:r>
            <a:r>
              <a:rPr lang="ru-RU" sz="1600" dirty="0"/>
              <a:t> </a:t>
            </a:r>
            <a:r>
              <a:rPr lang="ru-RU" sz="1600" dirty="0" err="1"/>
              <a:t>екосистеми</a:t>
            </a:r>
            <a:r>
              <a:rPr lang="ru-RU" sz="1600" dirty="0"/>
              <a:t>.</a:t>
            </a:r>
            <a:endParaRPr lang="en-US" sz="1600" dirty="0"/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5B2DD188-094A-B21B-B530-53763ACBF623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572219" y="686864"/>
            <a:ext cx="3525582" cy="847199"/>
          </a:xfrm>
        </p:spPr>
        <p:txBody>
          <a:bodyPr/>
          <a:lstStyle/>
          <a:p>
            <a:r>
              <a:rPr lang="ru-RU" sz="1800" dirty="0"/>
              <a:t>Смарт-</a:t>
            </a:r>
            <a:r>
              <a:rPr lang="ru-RU" sz="1800" dirty="0" err="1"/>
              <a:t>термостати</a:t>
            </a:r>
            <a:endParaRPr lang="en-US" sz="1800" dirty="0"/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75CEA04E-B345-411A-34E5-D065D9CB92CE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4626467" y="686865"/>
            <a:ext cx="2921600" cy="847198"/>
          </a:xfrm>
        </p:spPr>
        <p:txBody>
          <a:bodyPr/>
          <a:lstStyle/>
          <a:p>
            <a:r>
              <a:rPr lang="ru-RU" sz="1800" dirty="0" err="1"/>
              <a:t>Компактні</a:t>
            </a:r>
            <a:r>
              <a:rPr lang="ru-RU" sz="1800" dirty="0"/>
              <a:t> </a:t>
            </a:r>
            <a:r>
              <a:rPr lang="ru-RU" sz="1800" dirty="0" err="1"/>
              <a:t>метеостанції</a:t>
            </a:r>
            <a:endParaRPr lang="en-US" sz="1800" dirty="0"/>
          </a:p>
        </p:txBody>
      </p:sp>
      <p:sp>
        <p:nvSpPr>
          <p:cNvPr id="21" name="Subtitle 20">
            <a:extLst>
              <a:ext uri="{FF2B5EF4-FFF2-40B4-BE49-F238E27FC236}">
                <a16:creationId xmlns:a16="http://schemas.microsoft.com/office/drawing/2014/main" id="{F251BBEC-2D7C-08F7-8920-A43FACEA99D6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8076733" y="686865"/>
            <a:ext cx="3543048" cy="847198"/>
          </a:xfrm>
        </p:spPr>
        <p:txBody>
          <a:bodyPr/>
          <a:lstStyle/>
          <a:p>
            <a:r>
              <a:rPr lang="ru-RU" sz="1800" dirty="0" err="1"/>
              <a:t>Системи</a:t>
            </a:r>
            <a:r>
              <a:rPr lang="ru-RU" sz="1800" dirty="0"/>
              <a:t> </a:t>
            </a:r>
            <a:r>
              <a:rPr lang="ru-RU" sz="1800" dirty="0" err="1"/>
              <a:t>безпеки</a:t>
            </a:r>
            <a:r>
              <a:rPr lang="ru-RU" sz="1800" dirty="0"/>
              <a:t> з </a:t>
            </a:r>
            <a:r>
              <a:rPr lang="ru-RU" sz="1800" dirty="0" err="1"/>
              <a:t>кліматичним</a:t>
            </a:r>
            <a:r>
              <a:rPr lang="ru-RU" sz="1800" dirty="0"/>
              <a:t> </a:t>
            </a:r>
            <a:r>
              <a:rPr lang="ru-RU" sz="1800" dirty="0" err="1"/>
              <a:t>моніторингом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D8E46-5561-8DB7-FE31-1777B5A4B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289" y="3226278"/>
            <a:ext cx="2691442" cy="2691442"/>
          </a:xfrm>
          <a:prstGeom prst="rect">
            <a:avLst/>
          </a:prstGeom>
          <a:effectLst>
            <a:outerShdw blurRad="393700" dist="63500" dir="4800000" sx="103000" sy="103000" algn="tl" rotWithShape="0">
              <a:prstClr val="black">
                <a:alpha val="39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2E4AD8-AD6A-3F8D-79A9-BAD99819C0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86" r="12419"/>
          <a:stretch/>
        </p:blipFill>
        <p:spPr>
          <a:xfrm>
            <a:off x="4765902" y="3622471"/>
            <a:ext cx="2660196" cy="1899057"/>
          </a:xfrm>
          <a:prstGeom prst="rect">
            <a:avLst/>
          </a:prstGeom>
          <a:effectLst>
            <a:outerShdw blurRad="393700" dist="63500" dir="4800000" sx="103000" sy="103000" algn="tl" rotWithShape="0">
              <a:prstClr val="black">
                <a:alpha val="39000"/>
              </a:prstClr>
            </a:outerShdw>
          </a:effectLst>
        </p:spPr>
      </p:pic>
      <p:pic>
        <p:nvPicPr>
          <p:cNvPr id="1032" name="Picture 8" descr="Ajax LifeQuality is a smart air quality monitor">
            <a:extLst>
              <a:ext uri="{FF2B5EF4-FFF2-40B4-BE49-F238E27FC236}">
                <a16:creationId xmlns:a16="http://schemas.microsoft.com/office/drawing/2014/main" id="{1E273103-1CEB-CAE7-A993-4285121EB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923" y="3062376"/>
            <a:ext cx="1977553" cy="2944857"/>
          </a:xfrm>
          <a:prstGeom prst="rect">
            <a:avLst/>
          </a:prstGeom>
          <a:noFill/>
          <a:effectLst>
            <a:outerShdw blurRad="393700" dist="63500" dir="4800000" sx="103000" sy="103000" algn="t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95C3CF-92BD-E7D4-DFD6-65821E3916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27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 14">
            <a:extLst>
              <a:ext uri="{FF2B5EF4-FFF2-40B4-BE49-F238E27FC236}">
                <a16:creationId xmlns:a16="http://schemas.microsoft.com/office/drawing/2014/main" id="{406B3BD8-7F10-1D16-5501-B2798D734F0C}"/>
              </a:ext>
            </a:extLst>
          </p:cNvPr>
          <p:cNvSpPr txBox="1">
            <a:spLocks/>
          </p:cNvSpPr>
          <p:nvPr/>
        </p:nvSpPr>
        <p:spPr>
          <a:xfrm>
            <a:off x="1153134" y="1716658"/>
            <a:ext cx="2921600" cy="1712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lang="en-US" sz="1600" dirty="0"/>
              <a:t>Testo, ELT Sensor — </a:t>
            </a:r>
            <a:r>
              <a:rPr lang="ru-RU" sz="1600" dirty="0" err="1"/>
              <a:t>призначені</a:t>
            </a:r>
            <a:r>
              <a:rPr lang="ru-RU" sz="1600" dirty="0"/>
              <a:t> для </a:t>
            </a:r>
            <a:r>
              <a:rPr lang="ru-RU" sz="1600" dirty="0" err="1"/>
              <a:t>лабораторій</a:t>
            </a:r>
            <a:r>
              <a:rPr lang="ru-RU" sz="1600" dirty="0"/>
              <a:t>. </a:t>
            </a:r>
            <a:r>
              <a:rPr lang="ru-RU" sz="1600" dirty="0" err="1"/>
              <a:t>Забезпечують</a:t>
            </a:r>
            <a:r>
              <a:rPr lang="ru-RU" sz="1600" dirty="0"/>
              <a:t> </a:t>
            </a:r>
            <a:r>
              <a:rPr lang="ru-RU" sz="1600" dirty="0" err="1"/>
              <a:t>точні</a:t>
            </a:r>
            <a:r>
              <a:rPr lang="ru-RU" sz="1600" dirty="0"/>
              <a:t> </a:t>
            </a:r>
            <a:r>
              <a:rPr lang="ru-RU" sz="1600" dirty="0" err="1"/>
              <a:t>вимірювання</a:t>
            </a:r>
            <a:r>
              <a:rPr lang="ru-RU" sz="1600" dirty="0"/>
              <a:t> </a:t>
            </a:r>
            <a:r>
              <a:rPr lang="en-US" sz="1600" dirty="0"/>
              <a:t>CO₂, TVOC, </a:t>
            </a:r>
            <a:r>
              <a:rPr lang="ru-RU" sz="1600" dirty="0" err="1"/>
              <a:t>температури</a:t>
            </a:r>
            <a:r>
              <a:rPr lang="ru-RU" sz="1600" dirty="0"/>
              <a:t>. </a:t>
            </a:r>
            <a:r>
              <a:rPr lang="ru-RU" sz="1600" dirty="0" err="1"/>
              <a:t>Дорогі</a:t>
            </a:r>
            <a:r>
              <a:rPr lang="ru-RU" sz="1600" dirty="0"/>
              <a:t>, </a:t>
            </a:r>
            <a:r>
              <a:rPr lang="ru-RU" sz="1600" dirty="0" err="1"/>
              <a:t>потребують</a:t>
            </a:r>
            <a:r>
              <a:rPr lang="ru-RU" sz="1600" dirty="0"/>
              <a:t> </a:t>
            </a:r>
            <a:r>
              <a:rPr lang="ru-RU" sz="1600" dirty="0" err="1"/>
              <a:t>калібрування</a:t>
            </a:r>
            <a:r>
              <a:rPr lang="ru-RU" sz="1600" dirty="0"/>
              <a:t>.</a:t>
            </a:r>
            <a:r>
              <a:rPr lang="en-US" sz="1600" dirty="0"/>
              <a:t> 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9114160B-AD9A-8A4D-6084-8DF9A5CC9621}"/>
              </a:ext>
            </a:extLst>
          </p:cNvPr>
          <p:cNvSpPr txBox="1">
            <a:spLocks/>
          </p:cNvSpPr>
          <p:nvPr/>
        </p:nvSpPr>
        <p:spPr>
          <a:xfrm>
            <a:off x="4646800" y="1716658"/>
            <a:ext cx="2910000" cy="1712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lang="ru-RU" sz="1600" dirty="0" err="1"/>
              <a:t>Конструкції</a:t>
            </a:r>
            <a:r>
              <a:rPr lang="ru-RU" sz="1600" dirty="0"/>
              <a:t> на </a:t>
            </a:r>
            <a:r>
              <a:rPr lang="ru-RU" sz="1600" dirty="0" err="1"/>
              <a:t>базі</a:t>
            </a:r>
            <a:r>
              <a:rPr lang="ru-RU" sz="1600" dirty="0"/>
              <a:t> </a:t>
            </a:r>
            <a:r>
              <a:rPr lang="en-US" sz="1600" dirty="0"/>
              <a:t>Arduino, ESP </a:t>
            </a:r>
            <a:r>
              <a:rPr lang="ru-RU" sz="1600" dirty="0" err="1"/>
              <a:t>або</a:t>
            </a:r>
            <a:r>
              <a:rPr lang="ru-RU" sz="1600" dirty="0"/>
              <a:t> </a:t>
            </a:r>
            <a:r>
              <a:rPr lang="en-US" sz="1600" dirty="0"/>
              <a:t>STM32. </a:t>
            </a:r>
            <a:r>
              <a:rPr lang="ru-RU" sz="1600" dirty="0" err="1"/>
              <a:t>Підходять</a:t>
            </a:r>
            <a:r>
              <a:rPr lang="ru-RU" sz="1600" dirty="0"/>
              <a:t> для </a:t>
            </a:r>
            <a:r>
              <a:rPr lang="ru-RU" sz="1600" dirty="0" err="1"/>
              <a:t>ентузіастів</a:t>
            </a:r>
            <a:r>
              <a:rPr lang="ru-RU" sz="1600" dirty="0"/>
              <a:t>, </a:t>
            </a:r>
            <a:r>
              <a:rPr lang="ru-RU" sz="1600" dirty="0" err="1"/>
              <a:t>гнучкі</a:t>
            </a:r>
            <a:r>
              <a:rPr lang="ru-RU" sz="1600" dirty="0"/>
              <a:t>, </a:t>
            </a:r>
            <a:r>
              <a:rPr lang="ru-RU" sz="1600" dirty="0" err="1"/>
              <a:t>але</a:t>
            </a:r>
            <a:r>
              <a:rPr lang="ru-RU" sz="1600" dirty="0"/>
              <a:t> </a:t>
            </a:r>
            <a:r>
              <a:rPr lang="ru-RU" sz="1600" dirty="0" err="1"/>
              <a:t>потребують</a:t>
            </a:r>
            <a:r>
              <a:rPr lang="ru-RU" sz="1600" dirty="0"/>
              <a:t> </a:t>
            </a:r>
            <a:r>
              <a:rPr lang="ru-RU" sz="1600" dirty="0" err="1"/>
              <a:t>знань</a:t>
            </a:r>
            <a:r>
              <a:rPr lang="ru-RU" sz="1600" dirty="0"/>
              <a:t> у </a:t>
            </a:r>
            <a:r>
              <a:rPr lang="ru-RU" sz="1600" dirty="0" err="1"/>
              <a:t>схемотехніці</a:t>
            </a:r>
            <a:r>
              <a:rPr lang="ru-RU" sz="1600" dirty="0"/>
              <a:t> та </a:t>
            </a:r>
            <a:r>
              <a:rPr lang="ru-RU" sz="1600" dirty="0" err="1"/>
              <a:t>програмуванні</a:t>
            </a:r>
            <a:r>
              <a:rPr lang="ru-RU" sz="1600" dirty="0"/>
              <a:t>.</a:t>
            </a:r>
            <a:endParaRPr lang="en-US" sz="1600" dirty="0"/>
          </a:p>
        </p:txBody>
      </p:sp>
      <p:sp>
        <p:nvSpPr>
          <p:cNvPr id="18" name="Subtitle 17">
            <a:extLst>
              <a:ext uri="{FF2B5EF4-FFF2-40B4-BE49-F238E27FC236}">
                <a16:creationId xmlns:a16="http://schemas.microsoft.com/office/drawing/2014/main" id="{D0661B2B-FC08-5968-F82B-9BF2410F58CB}"/>
              </a:ext>
            </a:extLst>
          </p:cNvPr>
          <p:cNvSpPr txBox="1">
            <a:spLocks/>
          </p:cNvSpPr>
          <p:nvPr/>
        </p:nvSpPr>
        <p:spPr>
          <a:xfrm>
            <a:off x="8128866" y="1777392"/>
            <a:ext cx="2933200" cy="165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lang="en-US" sz="1600" dirty="0"/>
              <a:t>Dyson, Mitsubishi Electric — </a:t>
            </a:r>
            <a:r>
              <a:rPr lang="ru-RU" sz="1600" dirty="0" err="1"/>
              <a:t>мають</a:t>
            </a:r>
            <a:r>
              <a:rPr lang="ru-RU" sz="1600" dirty="0"/>
              <a:t> </a:t>
            </a:r>
            <a:r>
              <a:rPr lang="ru-RU" sz="1600" dirty="0" err="1"/>
              <a:t>вбудовані</a:t>
            </a:r>
            <a:r>
              <a:rPr lang="ru-RU" sz="1600" dirty="0"/>
              <a:t> </a:t>
            </a:r>
            <a:r>
              <a:rPr lang="ru-RU" sz="1600" dirty="0" err="1"/>
              <a:t>сенсори</a:t>
            </a:r>
            <a:r>
              <a:rPr lang="ru-RU" sz="1600" dirty="0"/>
              <a:t> </a:t>
            </a:r>
            <a:r>
              <a:rPr lang="ru-RU" sz="1600" dirty="0" err="1"/>
              <a:t>повітря</a:t>
            </a:r>
            <a:r>
              <a:rPr lang="ru-RU" sz="1600" dirty="0"/>
              <a:t> в системах </a:t>
            </a:r>
            <a:r>
              <a:rPr lang="ru-RU" sz="1600" dirty="0" err="1"/>
              <a:t>вентиляції</a:t>
            </a:r>
            <a:r>
              <a:rPr lang="ru-RU" sz="1600" dirty="0"/>
              <a:t> </a:t>
            </a:r>
            <a:r>
              <a:rPr lang="ru-RU" sz="1600" dirty="0" err="1"/>
              <a:t>або</a:t>
            </a:r>
            <a:r>
              <a:rPr lang="ru-RU" sz="1600" dirty="0"/>
              <a:t> </a:t>
            </a:r>
            <a:r>
              <a:rPr lang="ru-RU" sz="1600" dirty="0" err="1"/>
              <a:t>кондиціювання</a:t>
            </a:r>
            <a:r>
              <a:rPr lang="ru-RU" sz="1600" dirty="0"/>
              <a:t>. </a:t>
            </a:r>
            <a:r>
              <a:rPr lang="ru-RU" sz="1600" dirty="0" err="1"/>
              <a:t>Висока</a:t>
            </a:r>
            <a:r>
              <a:rPr lang="ru-RU" sz="1600" dirty="0"/>
              <a:t> </a:t>
            </a:r>
            <a:r>
              <a:rPr lang="ru-RU" sz="1600" dirty="0" err="1"/>
              <a:t>ціна</a:t>
            </a:r>
            <a:r>
              <a:rPr lang="ru-RU" sz="1600" dirty="0"/>
              <a:t>, </a:t>
            </a:r>
            <a:r>
              <a:rPr lang="ru-RU" sz="1600" dirty="0" err="1"/>
              <a:t>обмежена</a:t>
            </a:r>
            <a:r>
              <a:rPr lang="ru-RU" sz="1600" dirty="0"/>
              <a:t> </a:t>
            </a:r>
            <a:r>
              <a:rPr lang="ru-RU" sz="1600" dirty="0" err="1"/>
              <a:t>модифікація</a:t>
            </a:r>
            <a:r>
              <a:rPr lang="ru-RU" sz="1600" dirty="0"/>
              <a:t>.</a:t>
            </a:r>
            <a:endParaRPr lang="en-US" sz="1600" dirty="0"/>
          </a:p>
        </p:txBody>
      </p:sp>
      <p:sp>
        <p:nvSpPr>
          <p:cNvPr id="22" name="Subtitle 21">
            <a:extLst>
              <a:ext uri="{FF2B5EF4-FFF2-40B4-BE49-F238E27FC236}">
                <a16:creationId xmlns:a16="http://schemas.microsoft.com/office/drawing/2014/main" id="{6701D233-3778-08E8-63F0-325C3B222370}"/>
              </a:ext>
            </a:extLst>
          </p:cNvPr>
          <p:cNvSpPr txBox="1">
            <a:spLocks/>
          </p:cNvSpPr>
          <p:nvPr/>
        </p:nvSpPr>
        <p:spPr>
          <a:xfrm>
            <a:off x="1150731" y="734897"/>
            <a:ext cx="2910000" cy="847197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 i="0" u="none" strike="noStrike" cap="non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z="1800" dirty="0" err="1"/>
              <a:t>Професійні</a:t>
            </a:r>
            <a:r>
              <a:rPr lang="ru-RU" sz="1800" dirty="0"/>
              <a:t> </a:t>
            </a:r>
            <a:r>
              <a:rPr lang="ru-RU" sz="1800" dirty="0" err="1"/>
              <a:t>вимірювачі</a:t>
            </a:r>
            <a:endParaRPr lang="en-US" sz="1800" dirty="0"/>
          </a:p>
        </p:txBody>
      </p:sp>
      <p:sp>
        <p:nvSpPr>
          <p:cNvPr id="24" name="Subtitle 23">
            <a:extLst>
              <a:ext uri="{FF2B5EF4-FFF2-40B4-BE49-F238E27FC236}">
                <a16:creationId xmlns:a16="http://schemas.microsoft.com/office/drawing/2014/main" id="{3E31C5CD-0986-FDED-F400-0F31C0B510FE}"/>
              </a:ext>
            </a:extLst>
          </p:cNvPr>
          <p:cNvSpPr txBox="1">
            <a:spLocks/>
          </p:cNvSpPr>
          <p:nvPr/>
        </p:nvSpPr>
        <p:spPr>
          <a:xfrm>
            <a:off x="8131269" y="734896"/>
            <a:ext cx="2921600" cy="847198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 i="0" u="none" strike="noStrike" cap="non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z="1800" dirty="0" err="1"/>
              <a:t>Системи</a:t>
            </a:r>
            <a:r>
              <a:rPr lang="ru-RU" sz="1800" dirty="0"/>
              <a:t> з </a:t>
            </a:r>
            <a:r>
              <a:rPr lang="ru-RU" sz="1800" dirty="0" err="1"/>
              <a:t>інтегрованим</a:t>
            </a:r>
            <a:r>
              <a:rPr lang="ru-RU" sz="1800" dirty="0"/>
              <a:t> </a:t>
            </a:r>
            <a:r>
              <a:rPr lang="ru-RU" sz="1800" dirty="0" err="1"/>
              <a:t>моніторингом</a:t>
            </a:r>
            <a:endParaRPr lang="en-US" sz="1800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0E9E8A54-D92F-F1CE-1D14-74E656A783CF}"/>
              </a:ext>
            </a:extLst>
          </p:cNvPr>
          <p:cNvSpPr txBox="1">
            <a:spLocks/>
          </p:cNvSpPr>
          <p:nvPr/>
        </p:nvSpPr>
        <p:spPr>
          <a:xfrm>
            <a:off x="4646800" y="734896"/>
            <a:ext cx="2898400" cy="847198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 i="0" u="none" strike="noStrike" cap="non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800" dirty="0"/>
              <a:t>DIY-</a:t>
            </a:r>
            <a:r>
              <a:rPr lang="ru-RU" sz="1800" dirty="0" err="1"/>
              <a:t>рішення</a:t>
            </a:r>
            <a:r>
              <a:rPr lang="ru-RU" sz="1800" dirty="0"/>
              <a:t> </a:t>
            </a:r>
            <a:r>
              <a:rPr lang="ru-RU" sz="1800" dirty="0" err="1"/>
              <a:t>загального</a:t>
            </a:r>
            <a:r>
              <a:rPr lang="ru-RU" sz="1800" dirty="0"/>
              <a:t> </a:t>
            </a:r>
            <a:r>
              <a:rPr lang="ru-RU" sz="1800" dirty="0" err="1"/>
              <a:t>призначення</a:t>
            </a:r>
            <a:endParaRPr lang="en-US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C79DC4-A9DC-7B0D-C354-95F045CA1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809" y="3342736"/>
            <a:ext cx="2629844" cy="2629844"/>
          </a:xfrm>
          <a:prstGeom prst="rect">
            <a:avLst/>
          </a:prstGeom>
          <a:effectLst>
            <a:outerShdw blurRad="876300" dist="190500" dir="12900000" sx="103000" sy="103000" algn="t" rotWithShape="0">
              <a:prstClr val="black">
                <a:alpha val="25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46DCB4-C0CD-61DC-E7D9-5DC0AD910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150" y="3563564"/>
            <a:ext cx="3203700" cy="1802081"/>
          </a:xfrm>
          <a:prstGeom prst="rect">
            <a:avLst/>
          </a:prstGeom>
          <a:effectLst>
            <a:outerShdw blurRad="876300" dist="190500" dir="12900000" sx="103000" sy="103000" algn="t" rotWithShape="0">
              <a:prstClr val="black">
                <a:alpha val="25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636E0D-A5E6-D95F-60DB-5BBE1551F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4139" y="3475764"/>
            <a:ext cx="1575859" cy="2363788"/>
          </a:xfrm>
          <a:prstGeom prst="rect">
            <a:avLst/>
          </a:prstGeom>
          <a:effectLst>
            <a:outerShdw blurRad="876300" dist="190500" dir="12900000" sx="103000" sy="103000" algn="t" rotWithShape="0">
              <a:prstClr val="black">
                <a:alpha val="25000"/>
              </a:prstClr>
            </a:outerShdw>
          </a:effec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E0E58A-BD5B-A677-D649-610E8C79CF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032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4844D6C8-63B8-BB58-3238-97D7AA3E0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Обрані технології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9A0E0B3-8271-EAD7-D0BA-1FD18121C1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08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7CE439EA-9212-DD52-6347-E2965D334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716" y="1234102"/>
            <a:ext cx="3409200" cy="540600"/>
          </a:xfrm>
        </p:spPr>
        <p:txBody>
          <a:bodyPr/>
          <a:lstStyle/>
          <a:p>
            <a:r>
              <a:rPr lang="en-US" dirty="0"/>
              <a:t>STM32F103C8T6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E748295-202F-74CE-198E-C6648391676B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170587" y="1234102"/>
            <a:ext cx="4011500" cy="535576"/>
          </a:xfrm>
        </p:spPr>
        <p:txBody>
          <a:bodyPr/>
          <a:lstStyle/>
          <a:p>
            <a:r>
              <a:rPr lang="en-US" dirty="0"/>
              <a:t>DHT22 </a:t>
            </a:r>
            <a:r>
              <a:rPr lang="uk-UA" dirty="0"/>
              <a:t>та </a:t>
            </a:r>
            <a:r>
              <a:rPr lang="en-US" dirty="0"/>
              <a:t>MH-Z19B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4AC1D87-21C7-4754-7EF2-E8807DB790FF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600716" y="4233546"/>
            <a:ext cx="7516967" cy="496889"/>
          </a:xfrm>
        </p:spPr>
        <p:txBody>
          <a:bodyPr/>
          <a:lstStyle/>
          <a:p>
            <a:r>
              <a:rPr lang="en-US" dirty="0"/>
              <a:t>TP4056, MT3608 </a:t>
            </a:r>
            <a:r>
              <a:rPr lang="uk-UA" dirty="0"/>
              <a:t>та </a:t>
            </a:r>
            <a:r>
              <a:rPr lang="en-US" dirty="0"/>
              <a:t>AP2112K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642F3E9-3FBD-6F39-D1B5-3E772405524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8278353" y="4319548"/>
            <a:ext cx="3409200" cy="888994"/>
          </a:xfrm>
        </p:spPr>
        <p:txBody>
          <a:bodyPr anchor="ctr"/>
          <a:lstStyle/>
          <a:p>
            <a:r>
              <a:rPr lang="en-US" dirty="0"/>
              <a:t>STM32CubeMX</a:t>
            </a:r>
          </a:p>
          <a:p>
            <a:r>
              <a:rPr lang="en-US" dirty="0"/>
              <a:t>STM32CubeIDE</a:t>
            </a:r>
          </a:p>
          <a:p>
            <a:r>
              <a:rPr lang="en-US" dirty="0"/>
              <a:t>STM32CubeProgrammer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3F85538-33EE-3C55-C17B-981829DF10C5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600716" y="634386"/>
            <a:ext cx="3409200" cy="473200"/>
          </a:xfrm>
        </p:spPr>
        <p:txBody>
          <a:bodyPr/>
          <a:lstStyle/>
          <a:p>
            <a:r>
              <a:rPr lang="uk-UA" dirty="0"/>
              <a:t>Мікроконтролер</a:t>
            </a:r>
            <a:endParaRPr lang="en-US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368419B5-2519-4A78-D7CF-A13C2CBC1943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4170586" y="634386"/>
            <a:ext cx="3947097" cy="473200"/>
          </a:xfrm>
        </p:spPr>
        <p:txBody>
          <a:bodyPr/>
          <a:lstStyle/>
          <a:p>
            <a:r>
              <a:rPr lang="uk-UA" dirty="0"/>
              <a:t>Датчики</a:t>
            </a:r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24F99258-E00C-BF3E-DB25-F1D0AA44625D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600716" y="3544920"/>
            <a:ext cx="7516966" cy="658708"/>
          </a:xfrm>
        </p:spPr>
        <p:txBody>
          <a:bodyPr/>
          <a:lstStyle/>
          <a:p>
            <a:r>
              <a:rPr lang="uk-UA" sz="2400" dirty="0"/>
              <a:t>Живлення та керування зарядом</a:t>
            </a:r>
            <a:endParaRPr lang="en-US" sz="2400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C7F78302-222D-376F-FDA2-6FD6960B9F75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8278353" y="3544920"/>
            <a:ext cx="3409200" cy="658708"/>
          </a:xfrm>
        </p:spPr>
        <p:txBody>
          <a:bodyPr/>
          <a:lstStyle/>
          <a:p>
            <a:r>
              <a:rPr lang="uk-UA" sz="2400" dirty="0"/>
              <a:t>Програмне забезпечення</a:t>
            </a: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F7D96E-C1E0-D8BB-3E85-E715EC9C0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16" y="1769678"/>
            <a:ext cx="3409200" cy="17453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EA9DEB-DAAF-078F-ED77-656DE70F0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16" y="1769678"/>
            <a:ext cx="2291445" cy="16593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7C56AE-8F44-C2E4-F434-8D2AEDB58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362" y="1769679"/>
            <a:ext cx="1659322" cy="16593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16D2C3E-ADD7-14F3-74EF-1BD623A4CA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6652" y="1769678"/>
            <a:ext cx="1659322" cy="1659322"/>
          </a:xfrm>
          <a:prstGeom prst="rect">
            <a:avLst/>
          </a:prstGeom>
        </p:spPr>
      </p:pic>
      <p:sp>
        <p:nvSpPr>
          <p:cNvPr id="16" name="Subtitle 4">
            <a:extLst>
              <a:ext uri="{FF2B5EF4-FFF2-40B4-BE49-F238E27FC236}">
                <a16:creationId xmlns:a16="http://schemas.microsoft.com/office/drawing/2014/main" id="{971BE55D-C0A2-13A6-E046-89E9EE2C96C9}"/>
              </a:ext>
            </a:extLst>
          </p:cNvPr>
          <p:cNvSpPr txBox="1">
            <a:spLocks/>
          </p:cNvSpPr>
          <p:nvPr/>
        </p:nvSpPr>
        <p:spPr>
          <a:xfrm>
            <a:off x="8278353" y="1242157"/>
            <a:ext cx="3409200" cy="53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Mulish"/>
              <a:buNone/>
              <a:defRPr sz="1867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r>
              <a:rPr lang="en-US" dirty="0"/>
              <a:t>OLED-</a:t>
            </a:r>
            <a:r>
              <a:rPr lang="uk-UA" dirty="0"/>
              <a:t>дисплей </a:t>
            </a:r>
            <a:r>
              <a:rPr lang="en-US" dirty="0"/>
              <a:t>SSD1306</a:t>
            </a:r>
          </a:p>
        </p:txBody>
      </p:sp>
      <p:sp>
        <p:nvSpPr>
          <p:cNvPr id="17" name="Subtitle 8">
            <a:extLst>
              <a:ext uri="{FF2B5EF4-FFF2-40B4-BE49-F238E27FC236}">
                <a16:creationId xmlns:a16="http://schemas.microsoft.com/office/drawing/2014/main" id="{24976002-2626-6A2F-3430-F75F22D075F2}"/>
              </a:ext>
            </a:extLst>
          </p:cNvPr>
          <p:cNvSpPr txBox="1">
            <a:spLocks/>
          </p:cNvSpPr>
          <p:nvPr/>
        </p:nvSpPr>
        <p:spPr>
          <a:xfrm>
            <a:off x="8278353" y="664679"/>
            <a:ext cx="3409200" cy="473201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 i="0" u="none" strike="noStrike" cap="none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uk-UA" sz="2400" dirty="0"/>
              <a:t>Індикація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6AB998C-0022-90F2-9CBE-D7E7F2D62F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002" b="16544"/>
          <a:stretch/>
        </p:blipFill>
        <p:spPr>
          <a:xfrm>
            <a:off x="600716" y="4760353"/>
            <a:ext cx="2042683" cy="150042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C2434BC-E1F6-E7B6-D463-D3E02E5AA09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9225" b="27262"/>
          <a:stretch/>
        </p:blipFill>
        <p:spPr>
          <a:xfrm>
            <a:off x="2643399" y="4757687"/>
            <a:ext cx="2803828" cy="15004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DA8BBCC-00BA-B0FD-8DF8-C70D44C29E0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3769" t="14140" r="12030" b="25966"/>
          <a:stretch/>
        </p:blipFill>
        <p:spPr>
          <a:xfrm>
            <a:off x="5447227" y="4755021"/>
            <a:ext cx="2670456" cy="146859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A749265-FE81-DDC3-E054-FFD9C0F556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6097" y="5334621"/>
            <a:ext cx="1580432" cy="888993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F20D8D6A-598F-94D9-AA3A-365AE8F3CD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42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A164C1-FEF0-D12D-37FD-358E99E8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Результати розробки пристрою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4F04D33-3340-5224-A25F-EA7EF84E51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57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4120D9-B266-F000-3F5D-8756E219C2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12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566CE4-07D2-A802-F609-2E8D985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42" y="588012"/>
            <a:ext cx="10272000" cy="763600"/>
          </a:xfrm>
        </p:spPr>
        <p:txBody>
          <a:bodyPr/>
          <a:lstStyle/>
          <a:p>
            <a:r>
              <a:rPr lang="ru-RU" dirty="0" err="1"/>
              <a:t>Загальна</a:t>
            </a:r>
            <a:r>
              <a:rPr lang="ru-RU" dirty="0"/>
              <a:t> </a:t>
            </a:r>
            <a:r>
              <a:rPr lang="ru-RU" dirty="0" err="1"/>
              <a:t>електрична</a:t>
            </a:r>
            <a:r>
              <a:rPr lang="ru-RU" dirty="0"/>
              <a:t> схема пристрою</a:t>
            </a:r>
            <a:endParaRPr lang="en-US" dirty="0"/>
          </a:p>
        </p:txBody>
      </p:sp>
      <p:sp>
        <p:nvSpPr>
          <p:cNvPr id="27" name="Subtitle 26">
            <a:extLst>
              <a:ext uri="{FF2B5EF4-FFF2-40B4-BE49-F238E27FC236}">
                <a16:creationId xmlns:a16="http://schemas.microsoft.com/office/drawing/2014/main" id="{C193ED86-508A-EBDA-C98F-11C0E17191D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25643" y="1356967"/>
            <a:ext cx="3799004" cy="763600"/>
          </a:xfrm>
        </p:spPr>
        <p:txBody>
          <a:bodyPr/>
          <a:lstStyle/>
          <a:p>
            <a:r>
              <a:rPr lang="ru-RU" dirty="0" err="1"/>
              <a:t>Основні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endParaRPr lang="en-US" dirty="0"/>
          </a:p>
        </p:txBody>
      </p:sp>
      <p:sp>
        <p:nvSpPr>
          <p:cNvPr id="28" name="Subtitle 27">
            <a:extLst>
              <a:ext uri="{FF2B5EF4-FFF2-40B4-BE49-F238E27FC236}">
                <a16:creationId xmlns:a16="http://schemas.microsoft.com/office/drawing/2014/main" id="{22227AB4-8C24-A5A2-DA0A-6ADB301B6F3E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4576785" y="1356966"/>
            <a:ext cx="3190570" cy="763599"/>
          </a:xfrm>
        </p:spPr>
        <p:txBody>
          <a:bodyPr/>
          <a:lstStyle/>
          <a:p>
            <a:r>
              <a:rPr lang="ru-RU" dirty="0" err="1"/>
              <a:t>Живлення</a:t>
            </a:r>
            <a:endParaRPr lang="en-US" dirty="0"/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0C8FD0CA-C9B4-2B9D-876E-6D8BA49CC433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7919493" y="1356966"/>
            <a:ext cx="3646864" cy="763598"/>
          </a:xfrm>
        </p:spPr>
        <p:txBody>
          <a:bodyPr/>
          <a:lstStyle/>
          <a:p>
            <a:r>
              <a:rPr lang="ru-RU" dirty="0" err="1"/>
              <a:t>Інтерфейси</a:t>
            </a:r>
            <a:endParaRPr lang="en-US" dirty="0"/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E314EA17-D8AA-ACBF-40CE-EE78A0C0BDE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25642" y="2272138"/>
            <a:ext cx="379900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Мікроконтролер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STM32F103C8T6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ядро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системи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обробка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даних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керування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Сенсори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MH-Z19B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вимірювання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CO₂ (UART)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DHT22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температура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вологість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цифровий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пін)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Дисплей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OLED SSD1306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графічна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індикація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(I²C)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Кнопка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калібрування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ручне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оновлення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базового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рівня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CO₂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178786B4-9EAD-CBCD-EA69-0CA11AD66083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4576784" y="2272138"/>
            <a:ext cx="319057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Li-Ion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акумулятори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2×18650 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паралельно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TP4056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зарядка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акумуляторів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через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microUSB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MT3608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підвищення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напруги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до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5В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для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живлення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логіки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AP2112K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стабілізація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живлення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для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дисплея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сенсорів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217E34D1-9091-D0E7-C0F4-06F6E997927B}"/>
              </a:ext>
            </a:extLst>
          </p:cNvPr>
          <p:cNvSpPr>
            <a:spLocks noGrp="1" noChangeArrowheads="1"/>
          </p:cNvSpPr>
          <p:nvPr>
            <p:ph type="subTitle" idx="3"/>
          </p:nvPr>
        </p:nvSpPr>
        <p:spPr bwMode="auto">
          <a:xfrm>
            <a:off x="7919492" y="2298381"/>
            <a:ext cx="364686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зв'язок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з MH-Z19B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I²C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дисплей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SSD1306</a:t>
            </a:r>
          </a:p>
        </p:txBody>
      </p:sp>
    </p:spTree>
    <p:extLst>
      <p:ext uri="{BB962C8B-B14F-4D97-AF65-F5344CB8AC3E}">
        <p14:creationId xmlns:p14="http://schemas.microsoft.com/office/powerpoint/2010/main" val="2061172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3419DD-CB5E-D5A0-997B-2389382AC1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BC4A34-99BB-0FB8-86DE-92DF6C988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200" y="579769"/>
            <a:ext cx="2758600" cy="3591178"/>
          </a:xfrm>
        </p:spPr>
        <p:txBody>
          <a:bodyPr/>
          <a:lstStyle/>
          <a:p>
            <a:r>
              <a:rPr lang="uk-UA" sz="2800" dirty="0"/>
              <a:t>Загальна електрична схема пристрою. Додаток А. Схема електрична принципова</a:t>
            </a:r>
            <a:endParaRPr lang="en-US" sz="2800" dirty="0"/>
          </a:p>
        </p:txBody>
      </p:sp>
      <p:pic>
        <p:nvPicPr>
          <p:cNvPr id="11" name="Picture 10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845B5A2F-95A2-D51E-66E8-58404EA62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102" y="576142"/>
            <a:ext cx="8065698" cy="570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95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B5DC11-2AEF-38A5-ED1A-917B7D53C7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F4105F-E173-A725-2130-1C548B6CB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283" y="563426"/>
            <a:ext cx="10272000" cy="763600"/>
          </a:xfrm>
        </p:spPr>
        <p:txBody>
          <a:bodyPr/>
          <a:lstStyle/>
          <a:p>
            <a:r>
              <a:rPr lang="uk-UA" dirty="0"/>
              <a:t>Розробка друкованої плати</a:t>
            </a:r>
            <a:endParaRPr lang="en-US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721C14BC-119F-2F22-D529-1DAF8E492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283" y="1844567"/>
            <a:ext cx="5042916" cy="487600"/>
          </a:xfrm>
        </p:spPr>
        <p:txBody>
          <a:bodyPr/>
          <a:lstStyle/>
          <a:p>
            <a:r>
              <a:rPr lang="uk-UA" sz="2400" dirty="0"/>
              <a:t>100х100 мм, </a:t>
            </a:r>
            <a:r>
              <a:rPr lang="uk-UA" sz="2400" dirty="0" err="1"/>
              <a:t>двустороння</a:t>
            </a:r>
            <a:endParaRPr lang="en-US" sz="2400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222FCAF7-6B90-51AF-43A6-704C3993A97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87284" y="2906274"/>
            <a:ext cx="5169591" cy="3388300"/>
          </a:xfrm>
        </p:spPr>
        <p:txBody>
          <a:bodyPr/>
          <a:lstStyle/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ru-RU" sz="2400" dirty="0" err="1"/>
              <a:t>Живлення</a:t>
            </a:r>
            <a:r>
              <a:rPr lang="ru-RU" sz="2400" dirty="0"/>
              <a:t> </a:t>
            </a:r>
            <a:r>
              <a:rPr lang="ru-RU" sz="2400" dirty="0" err="1"/>
              <a:t>зліва</a:t>
            </a:r>
            <a:r>
              <a:rPr lang="ru-RU" sz="2400" dirty="0"/>
              <a:t>, </a:t>
            </a:r>
            <a:r>
              <a:rPr lang="ru-RU" sz="2400" dirty="0" err="1"/>
              <a:t>логіка</a:t>
            </a:r>
            <a:r>
              <a:rPr lang="ru-RU" sz="2400" dirty="0"/>
              <a:t> — по центру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ru-RU" sz="2400" dirty="0" err="1"/>
              <a:t>Сенсори</a:t>
            </a:r>
            <a:r>
              <a:rPr lang="ru-RU" sz="2400" dirty="0"/>
              <a:t> — на </a:t>
            </a:r>
            <a:r>
              <a:rPr lang="ru-RU" sz="2400" dirty="0" err="1"/>
              <a:t>периферії</a:t>
            </a:r>
            <a:r>
              <a:rPr lang="ru-RU" sz="2400" dirty="0"/>
              <a:t> для </a:t>
            </a:r>
            <a:r>
              <a:rPr lang="ru-RU" sz="2400" dirty="0" err="1"/>
              <a:t>відкритого</a:t>
            </a:r>
            <a:r>
              <a:rPr lang="ru-RU" sz="2400" dirty="0"/>
              <a:t> доступу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ru-RU" sz="2400" dirty="0"/>
              <a:t>Кнопки </a:t>
            </a:r>
            <a:r>
              <a:rPr lang="ru-RU" sz="2400" dirty="0" err="1"/>
              <a:t>винесені</a:t>
            </a:r>
            <a:r>
              <a:rPr lang="ru-RU" sz="2400" dirty="0"/>
              <a:t> для </a:t>
            </a:r>
            <a:r>
              <a:rPr lang="ru-RU" sz="2400" dirty="0" err="1"/>
              <a:t>взаємодії</a:t>
            </a:r>
            <a:r>
              <a:rPr lang="ru-RU" sz="2400" dirty="0"/>
              <a:t> з </a:t>
            </a:r>
            <a:r>
              <a:rPr lang="ru-RU" sz="2400" dirty="0" err="1"/>
              <a:t>користувачем</a:t>
            </a:r>
            <a:endParaRPr lang="ru-RU" sz="2400" dirty="0"/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ru-RU" sz="2400" dirty="0" err="1"/>
              <a:t>Мінімізація</a:t>
            </a:r>
            <a:r>
              <a:rPr lang="ru-RU" sz="2400" dirty="0"/>
              <a:t> </a:t>
            </a:r>
            <a:r>
              <a:rPr lang="ru-RU" sz="2400" dirty="0" err="1"/>
              <a:t>перехресних</a:t>
            </a:r>
            <a:r>
              <a:rPr lang="ru-RU" sz="2400" dirty="0"/>
              <a:t> трас і </a:t>
            </a:r>
            <a:r>
              <a:rPr lang="ru-RU" sz="2400" dirty="0" err="1"/>
              <a:t>шумів</a:t>
            </a:r>
            <a:endParaRPr lang="en-US" sz="2400" dirty="0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45CE1BCE-A64B-BB21-55C5-67F40F15914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87283" y="1327026"/>
            <a:ext cx="5042916" cy="487600"/>
          </a:xfrm>
        </p:spPr>
        <p:txBody>
          <a:bodyPr/>
          <a:lstStyle/>
          <a:p>
            <a:r>
              <a:rPr lang="uk-UA" dirty="0"/>
              <a:t>Габарити</a:t>
            </a:r>
            <a:endParaRPr lang="en-US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55D0E5D2-AD7C-B716-8118-E438FD97087D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687283" y="2362108"/>
            <a:ext cx="5042917" cy="487600"/>
          </a:xfrm>
        </p:spPr>
        <p:txBody>
          <a:bodyPr/>
          <a:lstStyle/>
          <a:p>
            <a:r>
              <a:rPr lang="uk-UA" dirty="0"/>
              <a:t>Принципи розміщення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ECCAB3-0801-9845-1DA6-FB710B78B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126" y="651853"/>
            <a:ext cx="5341438" cy="548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55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7534A7-5D0C-EBB7-AA6E-E9D510C69B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15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E80B2F-9858-5F6C-9DAB-8DB23AA03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72" y="548587"/>
            <a:ext cx="10272000" cy="763600"/>
          </a:xfrm>
        </p:spPr>
        <p:txBody>
          <a:bodyPr/>
          <a:lstStyle/>
          <a:p>
            <a:r>
              <a:rPr lang="uk-UA" dirty="0"/>
              <a:t>Розробка друкованої плати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36D06CD-0998-1067-69EE-92A567BACE3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28271" y="1423973"/>
            <a:ext cx="4813749" cy="763599"/>
          </a:xfrm>
        </p:spPr>
        <p:txBody>
          <a:bodyPr/>
          <a:lstStyle/>
          <a:p>
            <a:r>
              <a:rPr lang="ru-RU" dirty="0" err="1"/>
              <a:t>Перевірка</a:t>
            </a:r>
            <a:r>
              <a:rPr lang="ru-RU" dirty="0"/>
              <a:t> </a:t>
            </a:r>
            <a:r>
              <a:rPr lang="ru-RU" dirty="0" err="1"/>
              <a:t>компонування</a:t>
            </a:r>
            <a:endParaRPr 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E66BBC0-FA46-C3F5-BBF5-28A23481E0D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28273" y="2558850"/>
            <a:ext cx="481374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Усі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компоненти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вміщено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в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допустимий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об’єм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корпусу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3D-візуалізація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допомогла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виявити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конфлікти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між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конекторами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та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елементами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Правильна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орієнтація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компонентів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для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пайки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та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монтажу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B86EEF-D006-4338-9878-536DC0D9F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200" y="832619"/>
            <a:ext cx="5933527" cy="519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34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F9B3D9-4D69-5F45-F588-F822C5FEA9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339863-8F7E-F391-33F5-27A71FFE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Програмна реалізація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8F24BC3-F7BA-079F-F4EC-FFC5277E2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001" y="1929630"/>
            <a:ext cx="5135998" cy="3797402"/>
          </a:xfrm>
        </p:spPr>
        <p:txBody>
          <a:bodyPr/>
          <a:lstStyle/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ru-RU" sz="2400" dirty="0" err="1"/>
              <a:t>Ініціалізація</a:t>
            </a:r>
            <a:r>
              <a:rPr lang="ru-RU" sz="2400" dirty="0"/>
              <a:t> </a:t>
            </a:r>
            <a:r>
              <a:rPr lang="ru-RU" sz="2400" dirty="0" err="1"/>
              <a:t>мікроконтролера</a:t>
            </a:r>
            <a:r>
              <a:rPr lang="ru-RU" sz="2400" dirty="0"/>
              <a:t>, </a:t>
            </a:r>
            <a:r>
              <a:rPr lang="ru-RU" sz="2400" dirty="0" err="1"/>
              <a:t>периферії</a:t>
            </a:r>
            <a:r>
              <a:rPr lang="ru-RU" sz="2400" dirty="0"/>
              <a:t>, дисплея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ru-RU" sz="2400" dirty="0" err="1"/>
              <a:t>Обробка</a:t>
            </a:r>
            <a:r>
              <a:rPr lang="ru-RU" sz="2400" dirty="0"/>
              <a:t> </a:t>
            </a:r>
            <a:r>
              <a:rPr lang="ru-RU" sz="2400" dirty="0" err="1"/>
              <a:t>сенсорів</a:t>
            </a:r>
            <a:r>
              <a:rPr lang="ru-RU" sz="2400" dirty="0"/>
              <a:t> </a:t>
            </a:r>
            <a:r>
              <a:rPr lang="en-US" sz="2400" dirty="0"/>
              <a:t>DHT22 </a:t>
            </a:r>
            <a:r>
              <a:rPr lang="ru-RU" sz="2400" dirty="0"/>
              <a:t>та </a:t>
            </a:r>
            <a:r>
              <a:rPr lang="en-US" sz="2400" dirty="0"/>
              <a:t>MH-Z19B</a:t>
            </a:r>
            <a:endParaRPr lang="uk-UA" sz="2400" dirty="0"/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ru-RU" sz="2400" dirty="0" err="1"/>
              <a:t>Перевірка</a:t>
            </a:r>
            <a:r>
              <a:rPr lang="ru-RU" sz="2400" dirty="0"/>
              <a:t> </a:t>
            </a:r>
            <a:r>
              <a:rPr lang="ru-RU" sz="2400" dirty="0" err="1"/>
              <a:t>помилок</a:t>
            </a:r>
            <a:r>
              <a:rPr lang="ru-RU" sz="2400" dirty="0"/>
              <a:t> і </a:t>
            </a:r>
            <a:r>
              <a:rPr lang="ru-RU" sz="2400" dirty="0" err="1"/>
              <a:t>прогріву</a:t>
            </a:r>
            <a:endParaRPr lang="ru-RU" sz="2400" dirty="0"/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ru-RU" sz="2400" dirty="0" err="1"/>
              <a:t>Виведення</a:t>
            </a:r>
            <a:r>
              <a:rPr lang="ru-RU" sz="2400" dirty="0"/>
              <a:t> </a:t>
            </a:r>
            <a:r>
              <a:rPr lang="ru-RU" sz="2400" dirty="0" err="1"/>
              <a:t>даних</a:t>
            </a:r>
            <a:r>
              <a:rPr lang="ru-RU" sz="2400" dirty="0"/>
              <a:t> на дисплей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ru-RU" sz="2400" dirty="0" err="1"/>
              <a:t>Періодичне</a:t>
            </a:r>
            <a:r>
              <a:rPr lang="ru-RU" sz="2400" dirty="0"/>
              <a:t> </a:t>
            </a:r>
            <a:r>
              <a:rPr lang="ru-RU" sz="2400" dirty="0" err="1"/>
              <a:t>оновлення</a:t>
            </a:r>
            <a:r>
              <a:rPr lang="ru-RU" sz="2400" dirty="0"/>
              <a:t> </a:t>
            </a:r>
            <a:r>
              <a:rPr lang="ru-RU" sz="2400" dirty="0" err="1"/>
              <a:t>інформації</a:t>
            </a:r>
            <a:endParaRPr lang="en-US" sz="24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D785C48-13CD-5649-DD4D-D2A1848DB03B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6096000" y="2032433"/>
            <a:ext cx="5136000" cy="3797402"/>
          </a:xfrm>
        </p:spPr>
        <p:txBody>
          <a:bodyPr/>
          <a:lstStyle/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ru-RU" sz="2400" dirty="0" err="1"/>
              <a:t>Реакція</a:t>
            </a:r>
            <a:r>
              <a:rPr lang="ru-RU" sz="2400" dirty="0"/>
              <a:t> на </a:t>
            </a:r>
            <a:r>
              <a:rPr lang="ru-RU" sz="2400" dirty="0" err="1"/>
              <a:t>збої</a:t>
            </a:r>
            <a:r>
              <a:rPr lang="ru-RU" sz="2400" dirty="0"/>
              <a:t> </a:t>
            </a:r>
            <a:r>
              <a:rPr lang="ru-RU" sz="2400" dirty="0" err="1"/>
              <a:t>сенсорів</a:t>
            </a:r>
            <a:r>
              <a:rPr lang="ru-RU" sz="2400" dirty="0"/>
              <a:t> через </a:t>
            </a:r>
            <a:r>
              <a:rPr lang="ru-RU" sz="2400" dirty="0" err="1"/>
              <a:t>інформування</a:t>
            </a:r>
            <a:r>
              <a:rPr lang="ru-RU" sz="2400" dirty="0"/>
              <a:t> </a:t>
            </a:r>
            <a:r>
              <a:rPr lang="ru-RU" sz="2400" dirty="0" err="1"/>
              <a:t>користувача</a:t>
            </a:r>
            <a:endParaRPr lang="ru-RU" sz="2400" dirty="0"/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ru-RU" sz="2400" dirty="0" err="1"/>
              <a:t>Калібрування</a:t>
            </a:r>
            <a:r>
              <a:rPr lang="ru-RU" sz="2400" dirty="0"/>
              <a:t> </a:t>
            </a:r>
            <a:r>
              <a:rPr lang="en-US" sz="2400" dirty="0"/>
              <a:t>CO₂ </a:t>
            </a:r>
            <a:r>
              <a:rPr lang="ru-RU" sz="2400" dirty="0" err="1"/>
              <a:t>вручну</a:t>
            </a:r>
            <a:r>
              <a:rPr lang="ru-RU" sz="2400" dirty="0"/>
              <a:t> кнопкою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ru-RU" sz="2400" dirty="0"/>
              <a:t>Таймер для </a:t>
            </a:r>
            <a:r>
              <a:rPr lang="ru-RU" sz="2400" dirty="0" err="1"/>
              <a:t>прогріву</a:t>
            </a:r>
            <a:r>
              <a:rPr lang="ru-RU" sz="2400" dirty="0"/>
              <a:t> датчика </a:t>
            </a:r>
            <a:r>
              <a:rPr lang="en-US" sz="2400" dirty="0"/>
              <a:t>MH-Z19B </a:t>
            </a:r>
            <a:r>
              <a:rPr lang="ru-RU" sz="2400" dirty="0"/>
              <a:t>перед </a:t>
            </a:r>
            <a:r>
              <a:rPr lang="ru-RU" sz="2400" dirty="0" err="1"/>
              <a:t>зчитуванням</a:t>
            </a:r>
            <a:endParaRPr lang="ru-RU" sz="2400" dirty="0"/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ru-RU" sz="2400" dirty="0" err="1"/>
              <a:t>Мінімізація</a:t>
            </a:r>
            <a:r>
              <a:rPr lang="ru-RU" sz="2400" dirty="0"/>
              <a:t> </a:t>
            </a:r>
            <a:r>
              <a:rPr lang="ru-RU" sz="2400" dirty="0" err="1"/>
              <a:t>навантаження</a:t>
            </a:r>
            <a:r>
              <a:rPr lang="ru-RU" sz="2400" dirty="0"/>
              <a:t> через </a:t>
            </a:r>
            <a:r>
              <a:rPr lang="ru-RU" sz="2400" dirty="0" err="1"/>
              <a:t>прапорець</a:t>
            </a:r>
            <a:r>
              <a:rPr lang="ru-RU" sz="2400" dirty="0"/>
              <a:t> </a:t>
            </a:r>
            <a:r>
              <a:rPr lang="ru-RU" sz="2400" dirty="0" err="1"/>
              <a:t>оновлення</a:t>
            </a:r>
            <a:r>
              <a:rPr lang="ru-RU" sz="2400" dirty="0"/>
              <a:t> дисплея</a:t>
            </a:r>
            <a:endParaRPr lang="en-US" sz="24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B4063FA-032E-FACC-C5F1-74B87174C15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959999" y="1350535"/>
            <a:ext cx="4920847" cy="494032"/>
          </a:xfrm>
        </p:spPr>
        <p:txBody>
          <a:bodyPr/>
          <a:lstStyle/>
          <a:p>
            <a:r>
              <a:rPr lang="ru-RU" dirty="0" err="1"/>
              <a:t>Основні</a:t>
            </a:r>
            <a:r>
              <a:rPr lang="ru-RU" dirty="0"/>
              <a:t> </a:t>
            </a:r>
            <a:r>
              <a:rPr lang="ru-RU" dirty="0" err="1"/>
              <a:t>етапи</a:t>
            </a:r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CCADCD1-2519-120F-EFE9-125D67BBB851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6311153" y="1350535"/>
            <a:ext cx="4920846" cy="487600"/>
          </a:xfrm>
        </p:spPr>
        <p:txBody>
          <a:bodyPr/>
          <a:lstStyle/>
          <a:p>
            <a:r>
              <a:rPr lang="ru-RU" dirty="0" err="1"/>
              <a:t>Особливості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39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AB9166-0C14-369E-1D2F-93A877CB31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17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7656FD-6FAC-E446-52D3-E91DFC436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26" y="609855"/>
            <a:ext cx="11554431" cy="1704380"/>
          </a:xfrm>
        </p:spPr>
        <p:txBody>
          <a:bodyPr/>
          <a:lstStyle/>
          <a:p>
            <a:pPr marL="5773738" indent="-5773738"/>
            <a:r>
              <a:rPr lang="uk-UA" dirty="0"/>
              <a:t>Програмна реалізація. Додаток Б. Структура алгоритму роботи мікропрограми</a:t>
            </a:r>
            <a:endParaRPr lang="en-US" dirty="0"/>
          </a:p>
        </p:txBody>
      </p:sp>
      <p:pic>
        <p:nvPicPr>
          <p:cNvPr id="11" name="Picture 10" descr="A diagram of a flowchart&#10;&#10;AI-generated content may be incorrect.">
            <a:extLst>
              <a:ext uri="{FF2B5EF4-FFF2-40B4-BE49-F238E27FC236}">
                <a16:creationId xmlns:a16="http://schemas.microsoft.com/office/drawing/2014/main" id="{EDA7BA25-97B7-725D-C047-4DA562F6E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440"/>
          <a:stretch/>
        </p:blipFill>
        <p:spPr>
          <a:xfrm>
            <a:off x="201218" y="1356967"/>
            <a:ext cx="5924257" cy="4739688"/>
          </a:xfrm>
          <a:prstGeom prst="rect">
            <a:avLst/>
          </a:prstGeom>
        </p:spPr>
      </p:pic>
      <p:pic>
        <p:nvPicPr>
          <p:cNvPr id="13" name="Picture 12" descr="A diagram of a flowchart&#10;&#10;AI-generated content may be incorrect.">
            <a:extLst>
              <a:ext uri="{FF2B5EF4-FFF2-40B4-BE49-F238E27FC236}">
                <a16:creationId xmlns:a16="http://schemas.microsoft.com/office/drawing/2014/main" id="{779614C8-7901-4ED8-994A-751E16BEB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42"/>
          <a:stretch/>
        </p:blipFill>
        <p:spPr>
          <a:xfrm>
            <a:off x="6066525" y="2397139"/>
            <a:ext cx="5924257" cy="361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0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13AB3-B757-EAF0-CDDA-98FDE511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Висновок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9379B-89C2-9011-AB76-913E3A35BA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68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EEEF7D-FD3B-54E9-691E-E178DFA256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6C7BB13-CE31-4D54-ACAE-5C4470989E9A}" type="slidenum">
              <a:rPr lang="en-US" smtClean="0"/>
              <a:t>19</a:t>
            </a:fld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A36C2B8-DE6A-3963-22C2-0604FC728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364" y="969817"/>
            <a:ext cx="11037454" cy="4959927"/>
          </a:xfrm>
        </p:spPr>
        <p:txBody>
          <a:bodyPr/>
          <a:lstStyle/>
          <a:p>
            <a:pPr marL="482600" indent="-342900">
              <a:buFont typeface="Wingdings" panose="05000000000000000000" pitchFamily="2" charset="2"/>
              <a:buChar char="Ø"/>
            </a:pPr>
            <a:r>
              <a:rPr lang="ru-RU" sz="1800" dirty="0" err="1"/>
              <a:t>Розроблено</a:t>
            </a:r>
            <a:r>
              <a:rPr lang="ru-RU" sz="1800" dirty="0"/>
              <a:t> </a:t>
            </a:r>
            <a:r>
              <a:rPr lang="ru-RU" sz="1800" dirty="0" err="1"/>
              <a:t>автономний</a:t>
            </a:r>
            <a:r>
              <a:rPr lang="ru-RU" sz="1800" dirty="0"/>
              <a:t> </a:t>
            </a:r>
            <a:r>
              <a:rPr lang="ru-RU" sz="1800" dirty="0" err="1"/>
              <a:t>пристрій</a:t>
            </a:r>
            <a:r>
              <a:rPr lang="ru-RU" sz="1800" dirty="0"/>
              <a:t> на </a:t>
            </a:r>
            <a:r>
              <a:rPr lang="ru-RU" sz="1800" dirty="0" err="1"/>
              <a:t>базі</a:t>
            </a:r>
            <a:r>
              <a:rPr lang="ru-RU" sz="1800" dirty="0"/>
              <a:t> </a:t>
            </a:r>
            <a:r>
              <a:rPr lang="en-US" sz="1800" dirty="0"/>
              <a:t>STM32F103 </a:t>
            </a:r>
            <a:r>
              <a:rPr lang="ru-RU" sz="1800" dirty="0"/>
              <a:t>для локального </a:t>
            </a:r>
            <a:r>
              <a:rPr lang="ru-RU" sz="1800" dirty="0" err="1"/>
              <a:t>моніторингу</a:t>
            </a:r>
            <a:r>
              <a:rPr lang="ru-RU" sz="1800" dirty="0"/>
              <a:t> </a:t>
            </a:r>
            <a:r>
              <a:rPr lang="ru-RU" sz="1800" dirty="0" err="1"/>
              <a:t>рівня</a:t>
            </a:r>
            <a:r>
              <a:rPr lang="ru-RU" sz="1800" dirty="0"/>
              <a:t> </a:t>
            </a:r>
            <a:r>
              <a:rPr lang="en-US" sz="1800" dirty="0"/>
              <a:t>CO₂, </a:t>
            </a:r>
            <a:r>
              <a:rPr lang="ru-RU" sz="1800" dirty="0" err="1"/>
              <a:t>температури</a:t>
            </a:r>
            <a:r>
              <a:rPr lang="ru-RU" sz="1800" dirty="0"/>
              <a:t> та </a:t>
            </a:r>
            <a:r>
              <a:rPr lang="ru-RU" sz="1800" dirty="0" err="1"/>
              <a:t>вологості</a:t>
            </a:r>
            <a:r>
              <a:rPr lang="ru-RU" sz="1800" dirty="0"/>
              <a:t> в </a:t>
            </a:r>
            <a:r>
              <a:rPr lang="ru-RU" sz="1800" dirty="0" err="1"/>
              <a:t>приміщеннях</a:t>
            </a:r>
            <a:r>
              <a:rPr lang="ru-RU" sz="1800" dirty="0"/>
              <a:t>. </a:t>
            </a:r>
            <a:r>
              <a:rPr lang="ru-RU" sz="1800" dirty="0" err="1"/>
              <a:t>Він</a:t>
            </a:r>
            <a:r>
              <a:rPr lang="ru-RU" sz="1800" dirty="0"/>
              <a:t> </a:t>
            </a:r>
            <a:r>
              <a:rPr lang="ru-RU" sz="1800" dirty="0" err="1"/>
              <a:t>призначений</a:t>
            </a:r>
            <a:r>
              <a:rPr lang="ru-RU" sz="1800" dirty="0"/>
              <a:t> для </a:t>
            </a:r>
            <a:r>
              <a:rPr lang="ru-RU" sz="1800" dirty="0" err="1"/>
              <a:t>покращення</a:t>
            </a:r>
            <a:r>
              <a:rPr lang="ru-RU" sz="1800" dirty="0"/>
              <a:t> умов </a:t>
            </a:r>
            <a:r>
              <a:rPr lang="ru-RU" sz="1800" dirty="0" err="1"/>
              <a:t>перебування</a:t>
            </a:r>
            <a:r>
              <a:rPr lang="ru-RU" sz="1800" dirty="0"/>
              <a:t> людей та контролю </a:t>
            </a:r>
            <a:r>
              <a:rPr lang="ru-RU" sz="1800" dirty="0" err="1"/>
              <a:t>мікроклімату</a:t>
            </a:r>
            <a:r>
              <a:rPr lang="ru-RU" sz="1800" dirty="0"/>
              <a:t> без </a:t>
            </a:r>
            <a:r>
              <a:rPr lang="ru-RU" sz="1800" dirty="0" err="1"/>
              <a:t>підключення</a:t>
            </a:r>
            <a:r>
              <a:rPr lang="ru-RU" sz="1800" dirty="0"/>
              <a:t> до </a:t>
            </a:r>
            <a:r>
              <a:rPr lang="ru-RU" sz="1800" dirty="0" err="1"/>
              <a:t>мережі</a:t>
            </a:r>
            <a:r>
              <a:rPr lang="ru-RU" sz="1800" dirty="0"/>
              <a:t>.</a:t>
            </a:r>
          </a:p>
          <a:p>
            <a:pPr marL="139700" indent="0"/>
            <a:endParaRPr lang="ru-RU" sz="1800" dirty="0"/>
          </a:p>
          <a:p>
            <a:pPr marL="482600" indent="-342900">
              <a:buFont typeface="Wingdings" panose="05000000000000000000" pitchFamily="2" charset="2"/>
              <a:buChar char="Ø"/>
            </a:pPr>
            <a:r>
              <a:rPr lang="ru-RU" sz="1800" dirty="0"/>
              <a:t>Система </a:t>
            </a:r>
            <a:r>
              <a:rPr lang="ru-RU" sz="1800" dirty="0" err="1"/>
              <a:t>використовує</a:t>
            </a:r>
            <a:r>
              <a:rPr lang="ru-RU" sz="1800" dirty="0"/>
              <a:t> </a:t>
            </a:r>
            <a:r>
              <a:rPr lang="ru-RU" sz="1800" dirty="0" err="1"/>
              <a:t>цифрові</a:t>
            </a:r>
            <a:r>
              <a:rPr lang="ru-RU" sz="1800" dirty="0"/>
              <a:t> </a:t>
            </a:r>
            <a:r>
              <a:rPr lang="ru-RU" sz="1800" dirty="0" err="1"/>
              <a:t>сенсори</a:t>
            </a:r>
            <a:r>
              <a:rPr lang="ru-RU" sz="1800" dirty="0"/>
              <a:t> </a:t>
            </a:r>
            <a:r>
              <a:rPr lang="en-US" sz="1800" dirty="0"/>
              <a:t>DHT22 </a:t>
            </a:r>
            <a:r>
              <a:rPr lang="ru-RU" sz="1800" dirty="0"/>
              <a:t>та </a:t>
            </a:r>
            <a:r>
              <a:rPr lang="en-US" sz="1800" dirty="0"/>
              <a:t>MH-Z19B, </a:t>
            </a:r>
            <a:r>
              <a:rPr lang="ru-RU" sz="1800" dirty="0" err="1"/>
              <a:t>що</a:t>
            </a:r>
            <a:r>
              <a:rPr lang="ru-RU" sz="1800" dirty="0"/>
              <a:t> </a:t>
            </a:r>
            <a:r>
              <a:rPr lang="ru-RU" sz="1800" dirty="0" err="1"/>
              <a:t>забезпечують</a:t>
            </a:r>
            <a:r>
              <a:rPr lang="ru-RU" sz="1800" dirty="0"/>
              <a:t> </a:t>
            </a:r>
            <a:r>
              <a:rPr lang="ru-RU" sz="1800" dirty="0" err="1"/>
              <a:t>точні</a:t>
            </a:r>
            <a:r>
              <a:rPr lang="ru-RU" sz="1800" dirty="0"/>
              <a:t> </a:t>
            </a:r>
            <a:r>
              <a:rPr lang="ru-RU" sz="1800" dirty="0" err="1"/>
              <a:t>вимірювання</a:t>
            </a:r>
            <a:r>
              <a:rPr lang="ru-RU" sz="1800" dirty="0"/>
              <a:t>. </a:t>
            </a:r>
            <a:r>
              <a:rPr lang="ru-RU" sz="1800" dirty="0" err="1"/>
              <a:t>Результати</a:t>
            </a:r>
            <a:r>
              <a:rPr lang="ru-RU" sz="1800" dirty="0"/>
              <a:t> </a:t>
            </a:r>
            <a:r>
              <a:rPr lang="ru-RU" sz="1800" dirty="0" err="1"/>
              <a:t>виводяться</a:t>
            </a:r>
            <a:r>
              <a:rPr lang="ru-RU" sz="1800" dirty="0"/>
              <a:t> на </a:t>
            </a:r>
            <a:r>
              <a:rPr lang="en-US" sz="1800" dirty="0"/>
              <a:t>OLED-</a:t>
            </a:r>
            <a:r>
              <a:rPr lang="ru-RU" sz="1800" dirty="0"/>
              <a:t>дисплей, </a:t>
            </a:r>
            <a:r>
              <a:rPr lang="ru-RU" sz="1800" dirty="0" err="1"/>
              <a:t>що</a:t>
            </a:r>
            <a:r>
              <a:rPr lang="ru-RU" sz="1800" dirty="0"/>
              <a:t> </a:t>
            </a:r>
            <a:r>
              <a:rPr lang="ru-RU" sz="1800" dirty="0" err="1"/>
              <a:t>дозволяє</a:t>
            </a:r>
            <a:r>
              <a:rPr lang="ru-RU" sz="1800" dirty="0"/>
              <a:t> </a:t>
            </a:r>
            <a:r>
              <a:rPr lang="ru-RU" sz="1800" dirty="0" err="1"/>
              <a:t>швидко</a:t>
            </a:r>
            <a:r>
              <a:rPr lang="ru-RU" sz="1800" dirty="0"/>
              <a:t> </a:t>
            </a:r>
            <a:r>
              <a:rPr lang="ru-RU" sz="1800" dirty="0" err="1"/>
              <a:t>оцінити</a:t>
            </a:r>
            <a:r>
              <a:rPr lang="ru-RU" sz="1800" dirty="0"/>
              <a:t> стан </a:t>
            </a:r>
            <a:r>
              <a:rPr lang="ru-RU" sz="1800" dirty="0" err="1"/>
              <a:t>повітря</a:t>
            </a:r>
            <a:r>
              <a:rPr lang="ru-RU" sz="1800" dirty="0"/>
              <a:t> без </a:t>
            </a:r>
            <a:r>
              <a:rPr lang="ru-RU" sz="1800" dirty="0" err="1"/>
              <a:t>додаткових</a:t>
            </a:r>
            <a:r>
              <a:rPr lang="ru-RU" sz="1800" dirty="0"/>
              <a:t> </a:t>
            </a:r>
            <a:r>
              <a:rPr lang="ru-RU" sz="1800" dirty="0" err="1"/>
              <a:t>пристроїв</a:t>
            </a:r>
            <a:r>
              <a:rPr lang="ru-RU" sz="1800" dirty="0"/>
              <a:t>.</a:t>
            </a:r>
          </a:p>
          <a:p>
            <a:pPr marL="139700" indent="0"/>
            <a:endParaRPr lang="ru-RU" sz="1800" dirty="0"/>
          </a:p>
          <a:p>
            <a:pPr marL="482600" indent="-342900">
              <a:buFont typeface="Wingdings" panose="05000000000000000000" pitchFamily="2" charset="2"/>
              <a:buChar char="Ø"/>
            </a:pPr>
            <a:r>
              <a:rPr lang="ru-RU" sz="1800" dirty="0" err="1"/>
              <a:t>Пристрій</a:t>
            </a:r>
            <a:r>
              <a:rPr lang="ru-RU" sz="1800" dirty="0"/>
              <a:t> живиться </a:t>
            </a:r>
            <a:r>
              <a:rPr lang="ru-RU" sz="1800" dirty="0" err="1"/>
              <a:t>від</a:t>
            </a:r>
            <a:r>
              <a:rPr lang="ru-RU" sz="1800" dirty="0"/>
              <a:t> </a:t>
            </a:r>
            <a:r>
              <a:rPr lang="ru-RU" sz="1800" dirty="0" err="1"/>
              <a:t>акумулятора</a:t>
            </a:r>
            <a:r>
              <a:rPr lang="ru-RU" sz="1800" dirty="0"/>
              <a:t> з </a:t>
            </a:r>
            <a:r>
              <a:rPr lang="ru-RU" sz="1800" dirty="0" err="1"/>
              <a:t>керуванням</a:t>
            </a:r>
            <a:r>
              <a:rPr lang="ru-RU" sz="1800" dirty="0"/>
              <a:t> зарядом через </a:t>
            </a:r>
            <a:r>
              <a:rPr lang="ru-RU" sz="1800" dirty="0" err="1"/>
              <a:t>модулі</a:t>
            </a:r>
            <a:r>
              <a:rPr lang="ru-RU" sz="1800" dirty="0"/>
              <a:t> </a:t>
            </a:r>
            <a:r>
              <a:rPr lang="en-US" sz="1800" dirty="0"/>
              <a:t>TP4056 </a:t>
            </a:r>
            <a:r>
              <a:rPr lang="ru-RU" sz="1800" dirty="0"/>
              <a:t>та </a:t>
            </a:r>
            <a:r>
              <a:rPr lang="en-US" sz="1800" dirty="0"/>
              <a:t>MT3608, </a:t>
            </a:r>
            <a:r>
              <a:rPr lang="ru-RU" sz="1800" dirty="0" err="1"/>
              <a:t>що</a:t>
            </a:r>
            <a:r>
              <a:rPr lang="ru-RU" sz="1800" dirty="0"/>
              <a:t> </a:t>
            </a:r>
            <a:r>
              <a:rPr lang="ru-RU" sz="1800" dirty="0" err="1"/>
              <a:t>забезпечує</a:t>
            </a:r>
            <a:r>
              <a:rPr lang="ru-RU" sz="1800" dirty="0"/>
              <a:t> </a:t>
            </a:r>
            <a:r>
              <a:rPr lang="ru-RU" sz="1800" dirty="0" err="1"/>
              <a:t>автономність</a:t>
            </a:r>
            <a:r>
              <a:rPr lang="ru-RU" sz="1800" dirty="0"/>
              <a:t> і </a:t>
            </a:r>
            <a:r>
              <a:rPr lang="ru-RU" sz="1800" dirty="0" err="1"/>
              <a:t>можливість</a:t>
            </a:r>
            <a:r>
              <a:rPr lang="ru-RU" sz="1800" dirty="0"/>
              <a:t> </a:t>
            </a:r>
            <a:r>
              <a:rPr lang="ru-RU" sz="1800" dirty="0" err="1"/>
              <a:t>роботи</a:t>
            </a:r>
            <a:r>
              <a:rPr lang="ru-RU" sz="1800" dirty="0"/>
              <a:t> в </a:t>
            </a:r>
            <a:r>
              <a:rPr lang="ru-RU" sz="1800" dirty="0" err="1"/>
              <a:t>мобільних</a:t>
            </a:r>
            <a:r>
              <a:rPr lang="ru-RU" sz="1800" dirty="0"/>
              <a:t> </a:t>
            </a:r>
            <a:r>
              <a:rPr lang="ru-RU" sz="1800" dirty="0" err="1"/>
              <a:t>умовах</a:t>
            </a:r>
            <a:r>
              <a:rPr lang="ru-RU" sz="1800" dirty="0"/>
              <a:t>.</a:t>
            </a:r>
          </a:p>
          <a:p>
            <a:pPr marL="139700" indent="0"/>
            <a:endParaRPr lang="ru-RU" sz="1800" dirty="0"/>
          </a:p>
          <a:p>
            <a:pPr marL="482600" indent="-342900">
              <a:buFont typeface="Wingdings" panose="05000000000000000000" pitchFamily="2" charset="2"/>
              <a:buChar char="Ø"/>
            </a:pPr>
            <a:r>
              <a:rPr lang="ru-RU" sz="1800" dirty="0" err="1"/>
              <a:t>Завдяки</a:t>
            </a:r>
            <a:r>
              <a:rPr lang="ru-RU" sz="1800" dirty="0"/>
              <a:t> </a:t>
            </a:r>
            <a:r>
              <a:rPr lang="ru-RU" sz="1800" dirty="0" err="1"/>
              <a:t>низькій</a:t>
            </a:r>
            <a:r>
              <a:rPr lang="ru-RU" sz="1800" dirty="0"/>
              <a:t> </a:t>
            </a:r>
            <a:r>
              <a:rPr lang="ru-RU" sz="1800" dirty="0" err="1"/>
              <a:t>собівартості</a:t>
            </a:r>
            <a:r>
              <a:rPr lang="ru-RU" sz="1800" dirty="0"/>
              <a:t>, </a:t>
            </a:r>
            <a:r>
              <a:rPr lang="ru-RU" sz="1800" dirty="0" err="1"/>
              <a:t>простоті</a:t>
            </a:r>
            <a:r>
              <a:rPr lang="ru-RU" sz="1800" dirty="0"/>
              <a:t> </a:t>
            </a:r>
            <a:r>
              <a:rPr lang="ru-RU" sz="1800" dirty="0" err="1"/>
              <a:t>конструкції</a:t>
            </a:r>
            <a:r>
              <a:rPr lang="ru-RU" sz="1800" dirty="0"/>
              <a:t> та </a:t>
            </a:r>
            <a:r>
              <a:rPr lang="ru-RU" sz="1800" dirty="0" err="1"/>
              <a:t>відсутності</a:t>
            </a:r>
            <a:r>
              <a:rPr lang="ru-RU" sz="1800" dirty="0"/>
              <a:t> </a:t>
            </a:r>
            <a:r>
              <a:rPr lang="ru-RU" sz="1800" dirty="0" err="1"/>
              <a:t>залежності</a:t>
            </a:r>
            <a:r>
              <a:rPr lang="ru-RU" sz="1800" dirty="0"/>
              <a:t> </a:t>
            </a:r>
            <a:r>
              <a:rPr lang="ru-RU" sz="1800" dirty="0" err="1"/>
              <a:t>від</a:t>
            </a:r>
            <a:r>
              <a:rPr lang="ru-RU" sz="1800" dirty="0"/>
              <a:t> </a:t>
            </a:r>
            <a:r>
              <a:rPr lang="ru-RU" sz="1800" dirty="0" err="1"/>
              <a:t>інтернет-зв’язку</a:t>
            </a:r>
            <a:r>
              <a:rPr lang="ru-RU" sz="1800" dirty="0"/>
              <a:t>, система </a:t>
            </a:r>
            <a:r>
              <a:rPr lang="ru-RU" sz="1800" dirty="0" err="1"/>
              <a:t>може</a:t>
            </a:r>
            <a:r>
              <a:rPr lang="ru-RU" sz="1800" dirty="0"/>
              <a:t> бути </a:t>
            </a:r>
            <a:r>
              <a:rPr lang="ru-RU" sz="1800" dirty="0" err="1"/>
              <a:t>використана</a:t>
            </a:r>
            <a:r>
              <a:rPr lang="ru-RU" sz="1800" dirty="0"/>
              <a:t> у школах, </a:t>
            </a:r>
            <a:r>
              <a:rPr lang="ru-RU" sz="1800" dirty="0" err="1"/>
              <a:t>офісах</a:t>
            </a:r>
            <a:r>
              <a:rPr lang="ru-RU" sz="1800" dirty="0"/>
              <a:t>, </a:t>
            </a:r>
            <a:r>
              <a:rPr lang="ru-RU" sz="1800" dirty="0" err="1"/>
              <a:t>житлових</a:t>
            </a:r>
            <a:r>
              <a:rPr lang="ru-RU" sz="1800" dirty="0"/>
              <a:t> </a:t>
            </a:r>
            <a:r>
              <a:rPr lang="ru-RU" sz="1800" dirty="0" err="1"/>
              <a:t>приміщеннях</a:t>
            </a:r>
            <a:r>
              <a:rPr lang="ru-RU" sz="1800" dirty="0"/>
              <a:t>, </a:t>
            </a:r>
            <a:r>
              <a:rPr lang="ru-RU" sz="1800" dirty="0" err="1"/>
              <a:t>тимчасових</a:t>
            </a:r>
            <a:r>
              <a:rPr lang="ru-RU" sz="1800" dirty="0"/>
              <a:t> </a:t>
            </a:r>
            <a:r>
              <a:rPr lang="ru-RU" sz="1800" dirty="0" err="1"/>
              <a:t>спорудах</a:t>
            </a:r>
            <a:r>
              <a:rPr lang="ru-RU" sz="1800" dirty="0"/>
              <a:t> </a:t>
            </a:r>
            <a:r>
              <a:rPr lang="ru-RU" sz="1800" dirty="0" err="1"/>
              <a:t>або</a:t>
            </a:r>
            <a:r>
              <a:rPr lang="ru-RU" sz="1800" dirty="0"/>
              <a:t> як </a:t>
            </a:r>
            <a:r>
              <a:rPr lang="en-US" sz="1800" dirty="0"/>
              <a:t>DIY-</a:t>
            </a:r>
            <a:r>
              <a:rPr lang="ru-RU" sz="1800" dirty="0" err="1"/>
              <a:t>рішення</a:t>
            </a:r>
            <a:r>
              <a:rPr lang="ru-RU" sz="1800" dirty="0"/>
              <a:t> для </a:t>
            </a:r>
            <a:r>
              <a:rPr lang="ru-RU" sz="1800" dirty="0" err="1"/>
              <a:t>ентузіастів</a:t>
            </a:r>
            <a:r>
              <a:rPr lang="ru-RU" sz="1800" dirty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36072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D8CEC9"/>
      </a:lt1>
      <a:dk2>
        <a:srgbClr val="927C71"/>
      </a:dk2>
      <a:lt2>
        <a:srgbClr val="FAFAFA"/>
      </a:lt2>
      <a:accent1>
        <a:srgbClr val="C99A7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Elegant Bachelor Thesis _ by Slidesgo</Template>
  <TotalTime>127</TotalTime>
  <Words>780</Words>
  <Application>Microsoft Office PowerPoint</Application>
  <PresentationFormat>Widescreen</PresentationFormat>
  <Paragraphs>116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Aptos</vt:lpstr>
      <vt:lpstr>Arial</vt:lpstr>
      <vt:lpstr>Bebas Neue</vt:lpstr>
      <vt:lpstr>DM Sans</vt:lpstr>
      <vt:lpstr>Mulish</vt:lpstr>
      <vt:lpstr>Nunito Light</vt:lpstr>
      <vt:lpstr>Proxima Nova</vt:lpstr>
      <vt:lpstr>PT Sans</vt:lpstr>
      <vt:lpstr>Quicksand</vt:lpstr>
      <vt:lpstr>Wingdings</vt:lpstr>
      <vt:lpstr>Elegant Bachelor Thesis by Slidesgo</vt:lpstr>
      <vt:lpstr>Slidesgo Final Pages</vt:lpstr>
      <vt:lpstr>Портативна система моніторингу концентрації CO2 з графічним інтерфейсом</vt:lpstr>
      <vt:lpstr>Актуальність</vt:lpstr>
      <vt:lpstr>PowerPoint Presentation</vt:lpstr>
      <vt:lpstr>Мета</vt:lpstr>
      <vt:lpstr>PowerPoint Presentation</vt:lpstr>
      <vt:lpstr>Огляд існуючих рішень</vt:lpstr>
      <vt:lpstr>PowerPoint Presentation</vt:lpstr>
      <vt:lpstr>PowerPoint Presentation</vt:lpstr>
      <vt:lpstr>Обрані технології</vt:lpstr>
      <vt:lpstr>PowerPoint Presentation</vt:lpstr>
      <vt:lpstr>Результати розробки пристрою</vt:lpstr>
      <vt:lpstr>Загальна електрична схема пристрою</vt:lpstr>
      <vt:lpstr>Загальна електрична схема пристрою. Додаток А. Схема електрична принципова</vt:lpstr>
      <vt:lpstr>Розробка друкованої плати</vt:lpstr>
      <vt:lpstr>Розробка друкованої плати</vt:lpstr>
      <vt:lpstr>Програмна реалізація</vt:lpstr>
      <vt:lpstr>Програмна реалізація. Додаток Б. Структура алгоритму роботи мікропрограми</vt:lpstr>
      <vt:lpstr>Висновок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 Терентьев</dc:creator>
  <cp:lastModifiedBy>Иван Терентьев</cp:lastModifiedBy>
  <cp:revision>11</cp:revision>
  <dcterms:created xsi:type="dcterms:W3CDTF">2025-06-02T05:50:04Z</dcterms:created>
  <dcterms:modified xsi:type="dcterms:W3CDTF">2025-06-09T14:27:08Z</dcterms:modified>
</cp:coreProperties>
</file>